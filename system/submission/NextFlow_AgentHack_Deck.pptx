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we're talking about a fundamental problem in software development: you never know if your fix will work until you try it. And by then, it's too late. NextFlow changes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challenges create a cycle of uncertainty. You fix code, you deploy, you hope it works. If it breaks, you're in crisis mode. There has to be a better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insight. Instead of hoping your fix works, NextFlow shows you the fix first. You inspect it. You verify it. Only then do you apply it. This is the opposite of 'hope and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is deterministic. Each phase has explicit guard conditions. You can never proceed without meeting prerequisites. This is compiler-level rigor applied to software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snapshot is your safety net. It's always there. The scan is real analysis — not guessing. We use Python's own compilation tools to find actual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93.91% threshold is precise. It's not arbitrary. It represents the point at which an AI agent has sufficient information to succeed without follow-up questions. Below that, we narrow the search and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magic happens. We apply all the fixes to a copy. If something breaks, we know immediately. If it works, you see the result. You're never blindly applying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the work is done. You're not looking at a problem waiting to be fixed. You're looking at a fix waiting to be accepted. You see everything. Then you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capabilities work together to create a system that's auditable, reproducible, and trustworthy. Every feature addresses a specific pain point in traditional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You run the pipeline, and you see everything in real time. The phase timeline on the left shows progress. The score arc shows your information completeness. The resolved and unresolved items appear as they're discovered. And at the end, you have a complete hash verification confirming deterministic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difference between reactive and proactive development. With NextFlow, you're always in control. You always know what's happening. You always have a restore point. That's worth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NextFlow. Deterministic pipeline processing for the modern era. Click the link to launch the dashboard and see it yourself. Every output is earned.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274320" y="128016"/>
            <a:ext cx="146304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Arial" pitchFamily="34" charset="0"/>
                <a:ea typeface="Arial" pitchFamily="34" charset="-122"/>
                <a:cs typeface="Arial" pitchFamily="34" charset="-120"/>
              </a:rPr>
              <a:t>UiPath</a:t>
            </a:r>
            <a:endParaRPr lang="en-US" sz="1100" dirty="0"/>
          </a:p>
        </p:txBody>
      </p:sp>
      <p:sp>
        <p:nvSpPr>
          <p:cNvPr id="3" name="Text 1"/>
          <p:cNvSpPr/>
          <p:nvPr/>
        </p:nvSpPr>
        <p:spPr>
          <a:xfrm>
            <a:off x="5212080" y="91440"/>
            <a:ext cx="3657600" cy="411480"/>
          </a:xfrm>
          <a:prstGeom prst="rect">
            <a:avLst/>
          </a:prstGeom>
          <a:noFill/>
          <a:ln/>
        </p:spPr>
        <p:txBody>
          <a:bodyPr wrap="square" lIns="0" tIns="0" rIns="0" bIns="0" rtlCol="0" anchor="ctr"/>
          <a:lstStyle/>
          <a:p>
            <a:pPr algn="r" indent="0" marL="0">
              <a:lnSpc>
                <a:spcPct val="110000"/>
              </a:lnSpc>
              <a:buNone/>
            </a:pPr>
            <a:r>
              <a:rPr lang="en-US" sz="750" b="1" dirty="0">
                <a:solidFill>
                  <a:srgbClr val="22D3EE"/>
                </a:solidFill>
                <a:latin typeface="Calibri" pitchFamily="34" charset="0"/>
                <a:ea typeface="Calibri" pitchFamily="34" charset="-122"/>
                <a:cs typeface="Calibri" pitchFamily="34" charset="-120"/>
              </a:rPr>
              <a:t>UiPath AgentHack</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Track 2 — Maestro Orchestrator</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Team: The OneShot  ·  Author: Minh Le</a:t>
            </a:r>
            <a:endParaRPr lang="en-US" sz="750" dirty="0"/>
          </a:p>
        </p:txBody>
      </p:sp>
      <p:sp>
        <p:nvSpPr>
          <p:cNvPr id="4" name="Text 2"/>
          <p:cNvSpPr/>
          <p:nvPr/>
        </p:nvSpPr>
        <p:spPr>
          <a:xfrm>
            <a:off x="274320" y="4882896"/>
            <a:ext cx="3840480" cy="201168"/>
          </a:xfrm>
          <a:prstGeom prst="rect">
            <a:avLst/>
          </a:prstGeom>
          <a:noFill/>
          <a:ln/>
        </p:spPr>
        <p:txBody>
          <a:bodyPr wrap="square" lIns="0" tIns="0" rIns="0" bIns="0" rtlCol="0" anchor="ctr"/>
          <a:lstStyle/>
          <a:p>
            <a:pPr algn="l" indent="0" marL="0">
              <a:buNone/>
            </a:pPr>
            <a:r>
              <a:rPr lang="en-US" sz="700" dirty="0">
                <a:solidFill>
                  <a:srgbClr val="5C6680"/>
                </a:solidFill>
                <a:latin typeface="Calibri" pitchFamily="34" charset="0"/>
                <a:ea typeface="Calibri" pitchFamily="34" charset="-122"/>
                <a:cs typeface="Calibri" pitchFamily="34" charset="-120"/>
              </a:rPr>
              <a:t>Apache License 2.0   ·   © 2026 The OneShot</a:t>
            </a:r>
            <a:endParaRPr lang="en-US" sz="700" dirty="0"/>
          </a:p>
        </p:txBody>
      </p:sp>
      <p:sp>
        <p:nvSpPr>
          <p:cNvPr id="5" name="Text 3"/>
          <p:cNvSpPr/>
          <p:nvPr/>
        </p:nvSpPr>
        <p:spPr>
          <a:xfrm>
            <a:off x="3657600" y="4846320"/>
            <a:ext cx="5212080" cy="274320"/>
          </a:xfrm>
          <a:prstGeom prst="rect">
            <a:avLst/>
          </a:prstGeom>
          <a:noFill/>
          <a:ln/>
        </p:spPr>
        <p:txBody>
          <a:bodyPr wrap="square" lIns="0" tIns="0" rIns="0" bIns="0" rtlCol="0" anchor="ctr"/>
          <a:lstStyle/>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Builders: Kiro, Codex   ·   Agent Helpers: Qwen, ChatGPT, Claude, Mistral</a:t>
            </a:r>
            <a:endParaRPr lang="en-US" sz="650" dirty="0"/>
          </a:p>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Garbage: Auto Pilot (GitHub)</a:t>
            </a:r>
            <a:endParaRPr lang="en-US" sz="650" dirty="0"/>
          </a:p>
        </p:txBody>
      </p:sp>
      <p:sp>
        <p:nvSpPr>
          <p:cNvPr id="6" name="Shape 4"/>
          <p:cNvSpPr/>
          <p:nvPr/>
        </p:nvSpPr>
        <p:spPr>
          <a:xfrm>
            <a:off x="4160520" y="914400"/>
            <a:ext cx="822960" cy="822960"/>
          </a:xfrm>
          <a:prstGeom prst="ellipse">
            <a:avLst/>
          </a:prstGeom>
          <a:solidFill>
            <a:srgbClr val="16223A"/>
          </a:solidFill>
          <a:ln w="25400">
            <a:solidFill>
              <a:srgbClr val="22D3EE"/>
            </a:solidFill>
            <a:prstDash val="solid"/>
          </a:ln>
        </p:spPr>
      </p:sp>
      <p:sp>
        <p:nvSpPr>
          <p:cNvPr id="7" name="Text 5"/>
          <p:cNvSpPr/>
          <p:nvPr/>
        </p:nvSpPr>
        <p:spPr>
          <a:xfrm>
            <a:off x="4160520" y="914400"/>
            <a:ext cx="822960" cy="822960"/>
          </a:xfrm>
          <a:prstGeom prst="rect">
            <a:avLst/>
          </a:prstGeom>
          <a:noFill/>
          <a:ln/>
        </p:spPr>
        <p:txBody>
          <a:bodyPr wrap="square" lIns="0" tIns="0" rIns="0" bIns="0" rtlCol="0" anchor="ctr"/>
          <a:lstStyle/>
          <a:p>
            <a:pPr algn="ctr" indent="0" marL="0">
              <a:buNone/>
            </a:pPr>
            <a:r>
              <a:rPr lang="en-US" sz="3200" b="1" dirty="0">
                <a:solidFill>
                  <a:srgbClr val="22D3EE"/>
                </a:solidFill>
                <a:latin typeface="Arial" pitchFamily="34" charset="0"/>
                <a:ea typeface="Arial" pitchFamily="34" charset="-122"/>
                <a:cs typeface="Arial" pitchFamily="34" charset="-120"/>
              </a:rPr>
              <a:t>N</a:t>
            </a:r>
            <a:endParaRPr lang="en-US" sz="3200" dirty="0"/>
          </a:p>
        </p:txBody>
      </p:sp>
      <p:sp>
        <p:nvSpPr>
          <p:cNvPr id="8" name="Text 6"/>
          <p:cNvSpPr/>
          <p:nvPr/>
        </p:nvSpPr>
        <p:spPr>
          <a:xfrm>
            <a:off x="0" y="1874520"/>
            <a:ext cx="9144000" cy="777240"/>
          </a:xfrm>
          <a:prstGeom prst="rect">
            <a:avLst/>
          </a:prstGeom>
          <a:noFill/>
          <a:ln/>
        </p:spPr>
        <p:txBody>
          <a:bodyPr wrap="square" lIns="0" tIns="0" rIns="0" bIns="0" rtlCol="0" anchor="ctr"/>
          <a:lstStyle/>
          <a:p>
            <a:pPr algn="ctr" indent="0" marL="0">
              <a:buNone/>
            </a:pPr>
            <a:r>
              <a:rPr lang="en-US" sz="4800" b="1" dirty="0">
                <a:solidFill>
                  <a:srgbClr val="E6EAF2"/>
                </a:solidFill>
                <a:latin typeface="Arial" pitchFamily="34" charset="0"/>
                <a:ea typeface="Arial" pitchFamily="34" charset="-122"/>
                <a:cs typeface="Arial" pitchFamily="34" charset="-120"/>
              </a:rPr>
              <a:t>NextFlow</a:t>
            </a:r>
            <a:endParaRPr lang="en-US" sz="4800" dirty="0"/>
          </a:p>
        </p:txBody>
      </p:sp>
      <p:sp>
        <p:nvSpPr>
          <p:cNvPr id="9" name="Text 7"/>
          <p:cNvSpPr/>
          <p:nvPr/>
        </p:nvSpPr>
        <p:spPr>
          <a:xfrm>
            <a:off x="0" y="2542032"/>
            <a:ext cx="9144000" cy="411480"/>
          </a:xfrm>
          <a:prstGeom prst="rect">
            <a:avLst/>
          </a:prstGeom>
          <a:noFill/>
          <a:ln/>
        </p:spPr>
        <p:txBody>
          <a:bodyPr wrap="square" lIns="0" tIns="0" rIns="0" bIns="0" rtlCol="0" anchor="ctr"/>
          <a:lstStyle/>
          <a:p>
            <a:pPr algn="ctr" indent="0" marL="0">
              <a:buNone/>
            </a:pPr>
            <a:r>
              <a:rPr lang="en-US" sz="2000" dirty="0">
                <a:solidFill>
                  <a:srgbClr val="22D3EE"/>
                </a:solidFill>
                <a:latin typeface="Calibri" pitchFamily="34" charset="0"/>
                <a:ea typeface="Calibri" pitchFamily="34" charset="-122"/>
                <a:cs typeface="Calibri" pitchFamily="34" charset="-120"/>
              </a:rPr>
              <a:t>Deterministic Pipeline Processing</a:t>
            </a:r>
            <a:endParaRPr lang="en-US" sz="2000" dirty="0"/>
          </a:p>
        </p:txBody>
      </p:sp>
      <p:sp>
        <p:nvSpPr>
          <p:cNvPr id="10" name="Text 8"/>
          <p:cNvSpPr/>
          <p:nvPr/>
        </p:nvSpPr>
        <p:spPr>
          <a:xfrm>
            <a:off x="457200" y="3063240"/>
            <a:ext cx="8229600" cy="365760"/>
          </a:xfrm>
          <a:prstGeom prst="rect">
            <a:avLst/>
          </a:prstGeom>
          <a:noFill/>
          <a:ln/>
        </p:spPr>
        <p:txBody>
          <a:bodyPr wrap="square" lIns="0" tIns="0" rIns="0" bIns="0" rtlCol="0" anchor="ctr"/>
          <a:lstStyle/>
          <a:p>
            <a:pPr algn="ctr" indent="0" marL="0">
              <a:buNone/>
            </a:pPr>
            <a:r>
              <a:rPr lang="en-US" sz="1400" i="1" dirty="0">
                <a:solidFill>
                  <a:srgbClr val="8B96AC"/>
                </a:solidFill>
                <a:latin typeface="Calibri" pitchFamily="34" charset="0"/>
                <a:ea typeface="Calibri" pitchFamily="34" charset="-122"/>
                <a:cs typeface="Calibri" pitchFamily="34" charset="-120"/>
              </a:rPr>
              <a:t>See the result before you apply it.  No guessing.  No surprises.</a:t>
            </a:r>
            <a:endParaRPr lang="en-US" sz="1400" dirty="0"/>
          </a:p>
        </p:txBody>
      </p:sp>
      <p:sp>
        <p:nvSpPr>
          <p:cNvPr id="11" name="Text 9"/>
          <p:cNvSpPr/>
          <p:nvPr/>
        </p:nvSpPr>
        <p:spPr>
          <a:xfrm>
            <a:off x="0" y="4160520"/>
            <a:ext cx="9144000" cy="457200"/>
          </a:xfrm>
          <a:prstGeom prst="rect">
            <a:avLst/>
          </a:prstGeom>
          <a:noFill/>
          <a:ln/>
        </p:spPr>
        <p:txBody>
          <a:bodyPr wrap="square" lIns="0" tIns="0" rIns="0" bIns="0" rtlCol="0" anchor="ctr"/>
          <a:lstStyle/>
          <a:p>
            <a:pPr algn="ctr" indent="0" marL="0">
              <a:lnSpc>
                <a:spcPct val="120000"/>
              </a:lnSpc>
              <a:buNone/>
            </a:pPr>
            <a:r>
              <a:rPr lang="en-US" sz="1200" b="1" dirty="0">
                <a:solidFill>
                  <a:srgbClr val="E6EAF2"/>
                </a:solidFill>
                <a:latin typeface="Calibri" pitchFamily="34" charset="0"/>
                <a:ea typeface="Calibri" pitchFamily="34" charset="-122"/>
                <a:cs typeface="Calibri" pitchFamily="34" charset="-120"/>
              </a:rPr>
              <a:t>The OneShot Team</a:t>
            </a:r>
            <a:endParaRPr lang="en-US" sz="1200" dirty="0"/>
          </a:p>
          <a:p>
            <a:pPr algn="ctr" indent="0" marL="0">
              <a:lnSpc>
                <a:spcPct val="120000"/>
              </a:lnSpc>
              <a:buNone/>
            </a:pPr>
            <a:r>
              <a:rPr lang="en-US" sz="1200" dirty="0">
                <a:solidFill>
                  <a:srgbClr val="8B96AC"/>
                </a:solidFill>
                <a:latin typeface="Calibri" pitchFamily="34" charset="0"/>
                <a:ea typeface="Calibri" pitchFamily="34" charset="-122"/>
                <a:cs typeface="Calibri" pitchFamily="34" charset="-120"/>
              </a:rPr>
              <a:t>Built by Minh Le   ·   Contact: [add email / LinkedIn]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274320" y="128016"/>
            <a:ext cx="146304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Arial" pitchFamily="34" charset="0"/>
                <a:ea typeface="Arial" pitchFamily="34" charset="-122"/>
                <a:cs typeface="Arial" pitchFamily="34" charset="-120"/>
              </a:rPr>
              <a:t>UiPath</a:t>
            </a:r>
            <a:endParaRPr lang="en-US" sz="1100" dirty="0"/>
          </a:p>
        </p:txBody>
      </p:sp>
      <p:sp>
        <p:nvSpPr>
          <p:cNvPr id="3" name="Text 1"/>
          <p:cNvSpPr/>
          <p:nvPr/>
        </p:nvSpPr>
        <p:spPr>
          <a:xfrm>
            <a:off x="5212080" y="91440"/>
            <a:ext cx="3657600" cy="411480"/>
          </a:xfrm>
          <a:prstGeom prst="rect">
            <a:avLst/>
          </a:prstGeom>
          <a:noFill/>
          <a:ln/>
        </p:spPr>
        <p:txBody>
          <a:bodyPr wrap="square" lIns="0" tIns="0" rIns="0" bIns="0" rtlCol="0" anchor="ctr"/>
          <a:lstStyle/>
          <a:p>
            <a:pPr algn="r" indent="0" marL="0">
              <a:lnSpc>
                <a:spcPct val="110000"/>
              </a:lnSpc>
              <a:buNone/>
            </a:pPr>
            <a:r>
              <a:rPr lang="en-US" sz="750" b="1" dirty="0">
                <a:solidFill>
                  <a:srgbClr val="22D3EE"/>
                </a:solidFill>
                <a:latin typeface="Calibri" pitchFamily="34" charset="0"/>
                <a:ea typeface="Calibri" pitchFamily="34" charset="-122"/>
                <a:cs typeface="Calibri" pitchFamily="34" charset="-120"/>
              </a:rPr>
              <a:t>UiPath AgentHack</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Track 2 — Maestro Orchestrator</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Team: The OneShot  ·  Author: Minh Le</a:t>
            </a:r>
            <a:endParaRPr lang="en-US" sz="750" dirty="0"/>
          </a:p>
        </p:txBody>
      </p:sp>
      <p:sp>
        <p:nvSpPr>
          <p:cNvPr id="4" name="Text 2"/>
          <p:cNvSpPr/>
          <p:nvPr/>
        </p:nvSpPr>
        <p:spPr>
          <a:xfrm>
            <a:off x="274320" y="4882896"/>
            <a:ext cx="3840480" cy="201168"/>
          </a:xfrm>
          <a:prstGeom prst="rect">
            <a:avLst/>
          </a:prstGeom>
          <a:noFill/>
          <a:ln/>
        </p:spPr>
        <p:txBody>
          <a:bodyPr wrap="square" lIns="0" tIns="0" rIns="0" bIns="0" rtlCol="0" anchor="ctr"/>
          <a:lstStyle/>
          <a:p>
            <a:pPr algn="l" indent="0" marL="0">
              <a:buNone/>
            </a:pPr>
            <a:r>
              <a:rPr lang="en-US" sz="700" dirty="0">
                <a:solidFill>
                  <a:srgbClr val="5C6680"/>
                </a:solidFill>
                <a:latin typeface="Calibri" pitchFamily="34" charset="0"/>
                <a:ea typeface="Calibri" pitchFamily="34" charset="-122"/>
                <a:cs typeface="Calibri" pitchFamily="34" charset="-120"/>
              </a:rPr>
              <a:t>Apache License 2.0   ·   © 2026 The OneShot</a:t>
            </a:r>
            <a:endParaRPr lang="en-US" sz="700" dirty="0"/>
          </a:p>
        </p:txBody>
      </p:sp>
      <p:sp>
        <p:nvSpPr>
          <p:cNvPr id="5" name="Text 3"/>
          <p:cNvSpPr/>
          <p:nvPr/>
        </p:nvSpPr>
        <p:spPr>
          <a:xfrm>
            <a:off x="3657600" y="4846320"/>
            <a:ext cx="5212080" cy="274320"/>
          </a:xfrm>
          <a:prstGeom prst="rect">
            <a:avLst/>
          </a:prstGeom>
          <a:noFill/>
          <a:ln/>
        </p:spPr>
        <p:txBody>
          <a:bodyPr wrap="square" lIns="0" tIns="0" rIns="0" bIns="0" rtlCol="0" anchor="ctr"/>
          <a:lstStyle/>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Builders: Kiro, Codex   ·   Agent Helpers: Qwen, ChatGPT, Claude, Mistral</a:t>
            </a:r>
            <a:endParaRPr lang="en-US" sz="650" dirty="0"/>
          </a:p>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Garbage: Auto Pilot (GitHub)</a:t>
            </a:r>
            <a:endParaRPr lang="en-US" sz="650" dirty="0"/>
          </a:p>
        </p:txBody>
      </p:sp>
      <p:sp>
        <p:nvSpPr>
          <p:cNvPr id="6" name="Text 4"/>
          <p:cNvSpPr/>
          <p:nvPr/>
        </p:nvSpPr>
        <p:spPr>
          <a:xfrm>
            <a:off x="457200" y="566928"/>
            <a:ext cx="8229600" cy="502920"/>
          </a:xfrm>
          <a:prstGeom prst="rect">
            <a:avLst/>
          </a:prstGeom>
          <a:noFill/>
          <a:ln/>
        </p:spPr>
        <p:txBody>
          <a:bodyPr wrap="square" lIns="0" tIns="0" rIns="0" bIns="0" rtlCol="0" anchor="ctr"/>
          <a:lstStyle/>
          <a:p>
            <a:pPr indent="0" marL="0">
              <a:buNone/>
            </a:pPr>
            <a:r>
              <a:rPr lang="en-US" sz="2800" b="1" dirty="0">
                <a:solidFill>
                  <a:srgbClr val="E6EAF2"/>
                </a:solidFill>
                <a:latin typeface="Arial" pitchFamily="34" charset="0"/>
                <a:ea typeface="Arial" pitchFamily="34" charset="-122"/>
                <a:cs typeface="Arial" pitchFamily="34" charset="-120"/>
              </a:rPr>
              <a:t>Software Development Has a Trust Problem</a:t>
            </a:r>
            <a:endParaRPr lang="en-US" sz="2800" dirty="0"/>
          </a:p>
        </p:txBody>
      </p:sp>
      <p:sp>
        <p:nvSpPr>
          <p:cNvPr id="7" name="Shape 5"/>
          <p:cNvSpPr/>
          <p:nvPr/>
        </p:nvSpPr>
        <p:spPr>
          <a:xfrm>
            <a:off x="457200" y="1325880"/>
            <a:ext cx="2587752" cy="3063240"/>
          </a:xfrm>
          <a:prstGeom prst="roundRect">
            <a:avLst>
              <a:gd name="adj" fmla="val 2827"/>
            </a:avLst>
          </a:prstGeom>
          <a:solidFill>
            <a:srgbClr val="121C30"/>
          </a:solidFill>
          <a:ln/>
          <a:effectLst>
            <a:outerShdw sx="100000" sy="100000" kx="0" ky="0" algn="bl" rotWithShape="0" blurRad="101600" dist="38100" dir="5400000">
              <a:srgbClr val="000000">
                <a:alpha val="35000"/>
              </a:srgbClr>
            </a:outerShdw>
          </a:effectLst>
        </p:spPr>
      </p:sp>
      <p:sp>
        <p:nvSpPr>
          <p:cNvPr id="8" name="Shape 6"/>
          <p:cNvSpPr/>
          <p:nvPr/>
        </p:nvSpPr>
        <p:spPr>
          <a:xfrm>
            <a:off x="1431036" y="1645920"/>
            <a:ext cx="640080" cy="640080"/>
          </a:xfrm>
          <a:prstGeom prst="ellipse">
            <a:avLst/>
          </a:prstGeom>
          <a:solidFill>
            <a:srgbClr val="F2675A"/>
          </a:solidFill>
          <a:ln/>
        </p:spPr>
      </p:sp>
      <p:pic>
        <p:nvPicPr>
          <p:cNvPr id="9" name="Image 0" descr="preencoded.png">    </p:cNvPr>
          <p:cNvPicPr>
            <a:picLocks noChangeAspect="1"/>
          </p:cNvPicPr>
          <p:nvPr/>
        </p:nvPicPr>
        <p:blipFill>
          <a:blip r:embed="rId1"/>
          <a:stretch>
            <a:fillRect/>
          </a:stretch>
        </p:blipFill>
        <p:spPr>
          <a:xfrm>
            <a:off x="1597457" y="1812341"/>
            <a:ext cx="307238" cy="307238"/>
          </a:xfrm>
          <a:prstGeom prst="rect">
            <a:avLst/>
          </a:prstGeom>
        </p:spPr>
      </p:pic>
      <p:sp>
        <p:nvSpPr>
          <p:cNvPr id="10" name="Text 7"/>
          <p:cNvSpPr/>
          <p:nvPr/>
        </p:nvSpPr>
        <p:spPr>
          <a:xfrm>
            <a:off x="621792" y="2423160"/>
            <a:ext cx="2258568" cy="502920"/>
          </a:xfrm>
          <a:prstGeom prst="rect">
            <a:avLst/>
          </a:prstGeom>
          <a:noFill/>
          <a:ln/>
        </p:spPr>
        <p:txBody>
          <a:bodyPr wrap="square" lIns="0" tIns="0" rIns="0" bIns="0" rtlCol="0" anchor="ctr"/>
          <a:lstStyle/>
          <a:p>
            <a:pPr algn="ctr" indent="0" marL="0">
              <a:buNone/>
            </a:pPr>
            <a:r>
              <a:rPr lang="en-US" sz="1500" b="1" dirty="0">
                <a:solidFill>
                  <a:srgbClr val="E6EAF2"/>
                </a:solidFill>
                <a:latin typeface="Arial" pitchFamily="34" charset="0"/>
                <a:ea typeface="Arial" pitchFamily="34" charset="-122"/>
                <a:cs typeface="Arial" pitchFamily="34" charset="-120"/>
              </a:rPr>
              <a:t>Manual Issue Detection</a:t>
            </a:r>
            <a:endParaRPr lang="en-US" sz="1500" dirty="0"/>
          </a:p>
        </p:txBody>
      </p:sp>
      <p:sp>
        <p:nvSpPr>
          <p:cNvPr id="11" name="Text 8"/>
          <p:cNvSpPr/>
          <p:nvPr/>
        </p:nvSpPr>
        <p:spPr>
          <a:xfrm>
            <a:off x="658368" y="2926080"/>
            <a:ext cx="2185416" cy="1325880"/>
          </a:xfrm>
          <a:prstGeom prst="rect">
            <a:avLst/>
          </a:prstGeom>
          <a:noFill/>
          <a:ln/>
        </p:spPr>
        <p:txBody>
          <a:bodyPr wrap="square" lIns="0" tIns="0" rIns="0" bIns="0" rtlCol="0" anchor="t"/>
          <a:lstStyle/>
          <a:p>
            <a:pPr algn="l" indent="0" marL="0">
              <a:buNone/>
            </a:pPr>
            <a:r>
              <a:rPr lang="en-US" sz="1100" dirty="0">
                <a:solidFill>
                  <a:srgbClr val="8B96AC"/>
                </a:solidFill>
                <a:latin typeface="Calibri" pitchFamily="34" charset="0"/>
                <a:ea typeface="Calibri" pitchFamily="34" charset="-122"/>
                <a:cs typeface="Calibri" pitchFamily="34" charset="-120"/>
              </a:rPr>
              <a:t>Scanning for syntax errors, missing dependencies, and broken imports is tedious and error-prone. You're never confident you've found everything.</a:t>
            </a:r>
            <a:endParaRPr lang="en-US" sz="1100" dirty="0"/>
          </a:p>
        </p:txBody>
      </p:sp>
      <p:sp>
        <p:nvSpPr>
          <p:cNvPr id="12" name="Shape 9"/>
          <p:cNvSpPr/>
          <p:nvPr/>
        </p:nvSpPr>
        <p:spPr>
          <a:xfrm>
            <a:off x="3227832" y="1325880"/>
            <a:ext cx="2587752" cy="3063240"/>
          </a:xfrm>
          <a:prstGeom prst="roundRect">
            <a:avLst>
              <a:gd name="adj" fmla="val 2827"/>
            </a:avLst>
          </a:prstGeom>
          <a:solidFill>
            <a:srgbClr val="121C30"/>
          </a:solidFill>
          <a:ln/>
          <a:effectLst>
            <a:outerShdw sx="100000" sy="100000" kx="0" ky="0" algn="bl" rotWithShape="0" blurRad="101600" dist="38100" dir="5400000">
              <a:srgbClr val="000000">
                <a:alpha val="35000"/>
              </a:srgbClr>
            </a:outerShdw>
          </a:effectLst>
        </p:spPr>
      </p:sp>
      <p:sp>
        <p:nvSpPr>
          <p:cNvPr id="13" name="Shape 10"/>
          <p:cNvSpPr/>
          <p:nvPr/>
        </p:nvSpPr>
        <p:spPr>
          <a:xfrm>
            <a:off x="4201668" y="1645920"/>
            <a:ext cx="640080" cy="640080"/>
          </a:xfrm>
          <a:prstGeom prst="ellipse">
            <a:avLst/>
          </a:prstGeom>
          <a:solidFill>
            <a:srgbClr val="F2675A"/>
          </a:solidFill>
          <a:ln/>
        </p:spPr>
      </p:sp>
      <p:pic>
        <p:nvPicPr>
          <p:cNvPr id="14" name="Image 1" descr="preencoded.png">    </p:cNvPr>
          <p:cNvPicPr>
            <a:picLocks noChangeAspect="1"/>
          </p:cNvPicPr>
          <p:nvPr/>
        </p:nvPicPr>
        <p:blipFill>
          <a:blip r:embed="rId2"/>
          <a:stretch>
            <a:fillRect/>
          </a:stretch>
        </p:blipFill>
        <p:spPr>
          <a:xfrm>
            <a:off x="4368089" y="1812341"/>
            <a:ext cx="307238" cy="307238"/>
          </a:xfrm>
          <a:prstGeom prst="rect">
            <a:avLst/>
          </a:prstGeom>
        </p:spPr>
      </p:pic>
      <p:sp>
        <p:nvSpPr>
          <p:cNvPr id="15" name="Text 11"/>
          <p:cNvSpPr/>
          <p:nvPr/>
        </p:nvSpPr>
        <p:spPr>
          <a:xfrm>
            <a:off x="3392424" y="2423160"/>
            <a:ext cx="2258568" cy="502920"/>
          </a:xfrm>
          <a:prstGeom prst="rect">
            <a:avLst/>
          </a:prstGeom>
          <a:noFill/>
          <a:ln/>
        </p:spPr>
        <p:txBody>
          <a:bodyPr wrap="square" lIns="0" tIns="0" rIns="0" bIns="0" rtlCol="0" anchor="ctr"/>
          <a:lstStyle/>
          <a:p>
            <a:pPr algn="ctr" indent="0" marL="0">
              <a:buNone/>
            </a:pPr>
            <a:r>
              <a:rPr lang="en-US" sz="1500" b="1" dirty="0">
                <a:solidFill>
                  <a:srgbClr val="E6EAF2"/>
                </a:solidFill>
                <a:latin typeface="Arial" pitchFamily="34" charset="0"/>
                <a:ea typeface="Arial" pitchFamily="34" charset="-122"/>
                <a:cs typeface="Arial" pitchFamily="34" charset="-120"/>
              </a:rPr>
              <a:t>Blind Fixes</a:t>
            </a:r>
            <a:endParaRPr lang="en-US" sz="1500" dirty="0"/>
          </a:p>
        </p:txBody>
      </p:sp>
      <p:sp>
        <p:nvSpPr>
          <p:cNvPr id="16" name="Text 12"/>
          <p:cNvSpPr/>
          <p:nvPr/>
        </p:nvSpPr>
        <p:spPr>
          <a:xfrm>
            <a:off x="3429000" y="2926080"/>
            <a:ext cx="2185416" cy="1325880"/>
          </a:xfrm>
          <a:prstGeom prst="rect">
            <a:avLst/>
          </a:prstGeom>
          <a:noFill/>
          <a:ln/>
        </p:spPr>
        <p:txBody>
          <a:bodyPr wrap="square" lIns="0" tIns="0" rIns="0" bIns="0" rtlCol="0" anchor="t"/>
          <a:lstStyle/>
          <a:p>
            <a:pPr algn="l" indent="0" marL="0">
              <a:buNone/>
            </a:pPr>
            <a:r>
              <a:rPr lang="en-US" sz="1100" dirty="0">
                <a:solidFill>
                  <a:srgbClr val="8B96AC"/>
                </a:solidFill>
                <a:latin typeface="Calibri" pitchFamily="34" charset="0"/>
                <a:ea typeface="Calibri" pitchFamily="34" charset="-122"/>
                <a:cs typeface="Calibri" pitchFamily="34" charset="-120"/>
              </a:rPr>
              <a:t>When you try to fix issues, you're working without visibility. You don't know if your fix will break something else until you deploy it.</a:t>
            </a:r>
            <a:endParaRPr lang="en-US" sz="1100" dirty="0"/>
          </a:p>
        </p:txBody>
      </p:sp>
      <p:sp>
        <p:nvSpPr>
          <p:cNvPr id="17" name="Shape 13"/>
          <p:cNvSpPr/>
          <p:nvPr/>
        </p:nvSpPr>
        <p:spPr>
          <a:xfrm>
            <a:off x="5998464" y="1325880"/>
            <a:ext cx="2587752" cy="3063240"/>
          </a:xfrm>
          <a:prstGeom prst="roundRect">
            <a:avLst>
              <a:gd name="adj" fmla="val 2827"/>
            </a:avLst>
          </a:prstGeom>
          <a:solidFill>
            <a:srgbClr val="121C30"/>
          </a:solidFill>
          <a:ln/>
          <a:effectLst>
            <a:outerShdw sx="100000" sy="100000" kx="0" ky="0" algn="bl" rotWithShape="0" blurRad="101600" dist="38100" dir="5400000">
              <a:srgbClr val="000000">
                <a:alpha val="35000"/>
              </a:srgbClr>
            </a:outerShdw>
          </a:effectLst>
        </p:spPr>
      </p:sp>
      <p:sp>
        <p:nvSpPr>
          <p:cNvPr id="18" name="Shape 14"/>
          <p:cNvSpPr/>
          <p:nvPr/>
        </p:nvSpPr>
        <p:spPr>
          <a:xfrm>
            <a:off x="6972300" y="1645920"/>
            <a:ext cx="640080" cy="640080"/>
          </a:xfrm>
          <a:prstGeom prst="ellipse">
            <a:avLst/>
          </a:prstGeom>
          <a:solidFill>
            <a:srgbClr val="F2675A"/>
          </a:solidFill>
          <a:ln/>
        </p:spPr>
      </p:sp>
      <p:pic>
        <p:nvPicPr>
          <p:cNvPr id="19" name="Image 2" descr="preencoded.png">    </p:cNvPr>
          <p:cNvPicPr>
            <a:picLocks noChangeAspect="1"/>
          </p:cNvPicPr>
          <p:nvPr/>
        </p:nvPicPr>
        <p:blipFill>
          <a:blip r:embed="rId3"/>
          <a:stretch>
            <a:fillRect/>
          </a:stretch>
        </p:blipFill>
        <p:spPr>
          <a:xfrm>
            <a:off x="7138721" y="1812341"/>
            <a:ext cx="307238" cy="307238"/>
          </a:xfrm>
          <a:prstGeom prst="rect">
            <a:avLst/>
          </a:prstGeom>
        </p:spPr>
      </p:pic>
      <p:sp>
        <p:nvSpPr>
          <p:cNvPr id="20" name="Text 15"/>
          <p:cNvSpPr/>
          <p:nvPr/>
        </p:nvSpPr>
        <p:spPr>
          <a:xfrm>
            <a:off x="6163056" y="2423160"/>
            <a:ext cx="2258568" cy="502920"/>
          </a:xfrm>
          <a:prstGeom prst="rect">
            <a:avLst/>
          </a:prstGeom>
          <a:noFill/>
          <a:ln/>
        </p:spPr>
        <p:txBody>
          <a:bodyPr wrap="square" lIns="0" tIns="0" rIns="0" bIns="0" rtlCol="0" anchor="ctr"/>
          <a:lstStyle/>
          <a:p>
            <a:pPr algn="ctr" indent="0" marL="0">
              <a:buNone/>
            </a:pPr>
            <a:r>
              <a:rPr lang="en-US" sz="1500" b="1" dirty="0">
                <a:solidFill>
                  <a:srgbClr val="E6EAF2"/>
                </a:solidFill>
                <a:latin typeface="Arial" pitchFamily="34" charset="0"/>
                <a:ea typeface="Arial" pitchFamily="34" charset="-122"/>
                <a:cs typeface="Arial" pitchFamily="34" charset="-120"/>
              </a:rPr>
              <a:t>Lost Documentation</a:t>
            </a:r>
            <a:endParaRPr lang="en-US" sz="1500" dirty="0"/>
          </a:p>
        </p:txBody>
      </p:sp>
      <p:sp>
        <p:nvSpPr>
          <p:cNvPr id="21" name="Text 16"/>
          <p:cNvSpPr/>
          <p:nvPr/>
        </p:nvSpPr>
        <p:spPr>
          <a:xfrm>
            <a:off x="6199632" y="2926080"/>
            <a:ext cx="2185416" cy="1325880"/>
          </a:xfrm>
          <a:prstGeom prst="rect">
            <a:avLst/>
          </a:prstGeom>
          <a:noFill/>
          <a:ln/>
        </p:spPr>
        <p:txBody>
          <a:bodyPr wrap="square" lIns="0" tIns="0" rIns="0" bIns="0" rtlCol="0" anchor="t"/>
          <a:lstStyle/>
          <a:p>
            <a:pPr algn="l" indent="0" marL="0">
              <a:buNone/>
            </a:pPr>
            <a:r>
              <a:rPr lang="en-US" sz="1100" dirty="0">
                <a:solidFill>
                  <a:srgbClr val="8B96AC"/>
                </a:solidFill>
                <a:latin typeface="Calibri" pitchFamily="34" charset="0"/>
                <a:ea typeface="Calibri" pitchFamily="34" charset="-122"/>
                <a:cs typeface="Calibri" pitchFamily="34" charset="-120"/>
              </a:rPr>
              <a:t>Even when fixes work, there's no record of what changed, why it changed, or what still needs fixing. It all disappears into the noise.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274320" y="128016"/>
            <a:ext cx="146304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Arial" pitchFamily="34" charset="0"/>
                <a:ea typeface="Arial" pitchFamily="34" charset="-122"/>
                <a:cs typeface="Arial" pitchFamily="34" charset="-120"/>
              </a:rPr>
              <a:t>UiPath</a:t>
            </a:r>
            <a:endParaRPr lang="en-US" sz="1100" dirty="0"/>
          </a:p>
        </p:txBody>
      </p:sp>
      <p:sp>
        <p:nvSpPr>
          <p:cNvPr id="3" name="Text 1"/>
          <p:cNvSpPr/>
          <p:nvPr/>
        </p:nvSpPr>
        <p:spPr>
          <a:xfrm>
            <a:off x="5212080" y="91440"/>
            <a:ext cx="3657600" cy="411480"/>
          </a:xfrm>
          <a:prstGeom prst="rect">
            <a:avLst/>
          </a:prstGeom>
          <a:noFill/>
          <a:ln/>
        </p:spPr>
        <p:txBody>
          <a:bodyPr wrap="square" lIns="0" tIns="0" rIns="0" bIns="0" rtlCol="0" anchor="ctr"/>
          <a:lstStyle/>
          <a:p>
            <a:pPr algn="r" indent="0" marL="0">
              <a:lnSpc>
                <a:spcPct val="110000"/>
              </a:lnSpc>
              <a:buNone/>
            </a:pPr>
            <a:r>
              <a:rPr lang="en-US" sz="750" b="1" dirty="0">
                <a:solidFill>
                  <a:srgbClr val="22D3EE"/>
                </a:solidFill>
                <a:latin typeface="Calibri" pitchFamily="34" charset="0"/>
                <a:ea typeface="Calibri" pitchFamily="34" charset="-122"/>
                <a:cs typeface="Calibri" pitchFamily="34" charset="-120"/>
              </a:rPr>
              <a:t>UiPath AgentHack</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Track 2 — Maestro Orchestrator</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Team: The OneShot  ·  Author: Minh Le</a:t>
            </a:r>
            <a:endParaRPr lang="en-US" sz="750" dirty="0"/>
          </a:p>
        </p:txBody>
      </p:sp>
      <p:sp>
        <p:nvSpPr>
          <p:cNvPr id="4" name="Text 2"/>
          <p:cNvSpPr/>
          <p:nvPr/>
        </p:nvSpPr>
        <p:spPr>
          <a:xfrm>
            <a:off x="274320" y="4882896"/>
            <a:ext cx="3840480" cy="201168"/>
          </a:xfrm>
          <a:prstGeom prst="rect">
            <a:avLst/>
          </a:prstGeom>
          <a:noFill/>
          <a:ln/>
        </p:spPr>
        <p:txBody>
          <a:bodyPr wrap="square" lIns="0" tIns="0" rIns="0" bIns="0" rtlCol="0" anchor="ctr"/>
          <a:lstStyle/>
          <a:p>
            <a:pPr algn="l" indent="0" marL="0">
              <a:buNone/>
            </a:pPr>
            <a:r>
              <a:rPr lang="en-US" sz="700" dirty="0">
                <a:solidFill>
                  <a:srgbClr val="5C6680"/>
                </a:solidFill>
                <a:latin typeface="Calibri" pitchFamily="34" charset="0"/>
                <a:ea typeface="Calibri" pitchFamily="34" charset="-122"/>
                <a:cs typeface="Calibri" pitchFamily="34" charset="-120"/>
              </a:rPr>
              <a:t>Apache License 2.0   ·   © 2026 The OneShot</a:t>
            </a:r>
            <a:endParaRPr lang="en-US" sz="700" dirty="0"/>
          </a:p>
        </p:txBody>
      </p:sp>
      <p:sp>
        <p:nvSpPr>
          <p:cNvPr id="5" name="Text 3"/>
          <p:cNvSpPr/>
          <p:nvPr/>
        </p:nvSpPr>
        <p:spPr>
          <a:xfrm>
            <a:off x="3657600" y="4846320"/>
            <a:ext cx="5212080" cy="274320"/>
          </a:xfrm>
          <a:prstGeom prst="rect">
            <a:avLst/>
          </a:prstGeom>
          <a:noFill/>
          <a:ln/>
        </p:spPr>
        <p:txBody>
          <a:bodyPr wrap="square" lIns="0" tIns="0" rIns="0" bIns="0" rtlCol="0" anchor="ctr"/>
          <a:lstStyle/>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Builders: Kiro, Codex   ·   Agent Helpers: Qwen, ChatGPT, Claude, Mistral</a:t>
            </a:r>
            <a:endParaRPr lang="en-US" sz="650" dirty="0"/>
          </a:p>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Garbage: Auto Pilot (GitHub)</a:t>
            </a:r>
            <a:endParaRPr lang="en-US" sz="650" dirty="0"/>
          </a:p>
        </p:txBody>
      </p:sp>
      <p:sp>
        <p:nvSpPr>
          <p:cNvPr id="6" name="Text 4"/>
          <p:cNvSpPr/>
          <p:nvPr/>
        </p:nvSpPr>
        <p:spPr>
          <a:xfrm>
            <a:off x="457200" y="566928"/>
            <a:ext cx="8229600" cy="640080"/>
          </a:xfrm>
          <a:prstGeom prst="rect">
            <a:avLst/>
          </a:prstGeom>
          <a:noFill/>
          <a:ln/>
        </p:spPr>
        <p:txBody>
          <a:bodyPr wrap="square" lIns="0" tIns="0" rIns="0" bIns="0" rtlCol="0" anchor="ctr"/>
          <a:lstStyle/>
          <a:p>
            <a:pPr indent="0" marL="0">
              <a:buNone/>
            </a:pPr>
            <a:r>
              <a:rPr lang="en-US" sz="2600" b="1" dirty="0">
                <a:solidFill>
                  <a:srgbClr val="E6EAF2"/>
                </a:solidFill>
                <a:latin typeface="Arial" pitchFamily="34" charset="0"/>
                <a:ea typeface="Arial" pitchFamily="34" charset="-122"/>
                <a:cs typeface="Arial" pitchFamily="34" charset="-120"/>
              </a:rPr>
              <a:t>A Deterministic Pipeline That Works Before You Decide</a:t>
            </a:r>
            <a:endParaRPr lang="en-US" sz="2600" dirty="0"/>
          </a:p>
        </p:txBody>
      </p:sp>
      <p:sp>
        <p:nvSpPr>
          <p:cNvPr id="7" name="Text 5"/>
          <p:cNvSpPr/>
          <p:nvPr/>
        </p:nvSpPr>
        <p:spPr>
          <a:xfrm>
            <a:off x="640080" y="1417320"/>
            <a:ext cx="7863840" cy="822960"/>
          </a:xfrm>
          <a:prstGeom prst="rect">
            <a:avLst/>
          </a:prstGeom>
          <a:noFill/>
          <a:ln/>
        </p:spPr>
        <p:txBody>
          <a:bodyPr wrap="square" lIns="0" tIns="0" rIns="0" bIns="0" rtlCol="0" anchor="ctr"/>
          <a:lstStyle/>
          <a:p>
            <a:pPr algn="ctr" indent="0" marL="0">
              <a:buNone/>
            </a:pPr>
            <a:r>
              <a:rPr lang="en-US" sz="1600" dirty="0">
                <a:solidFill>
                  <a:srgbClr val="E6EAF2"/>
                </a:solidFill>
                <a:latin typeface="Calibri" pitchFamily="34" charset="0"/>
                <a:ea typeface="Calibri" pitchFamily="34" charset="-122"/>
                <a:cs typeface="Calibri" pitchFamily="34" charset="-120"/>
              </a:rPr>
              <a:t>NextFlow completes all the work on a candidate copy before you commit to it. You see the result. You verify it's safe. Then you apply it.</a:t>
            </a:r>
            <a:endParaRPr lang="en-US" sz="1600" dirty="0"/>
          </a:p>
        </p:txBody>
      </p:sp>
      <p:sp>
        <p:nvSpPr>
          <p:cNvPr id="8" name="Shape 6"/>
          <p:cNvSpPr/>
          <p:nvPr/>
        </p:nvSpPr>
        <p:spPr>
          <a:xfrm>
            <a:off x="1645920" y="2468880"/>
            <a:ext cx="5852160" cy="914400"/>
          </a:xfrm>
          <a:prstGeom prst="roundRect">
            <a:avLst>
              <a:gd name="adj" fmla="val 8000"/>
            </a:avLst>
          </a:prstGeom>
          <a:solidFill>
            <a:srgbClr val="16223A"/>
          </a:solidFill>
          <a:ln/>
          <a:effectLst>
            <a:outerShdw sx="100000" sy="100000" kx="0" ky="0" algn="bl" rotWithShape="0" blurRad="101600" dist="38100" dir="5400000">
              <a:srgbClr val="000000">
                <a:alpha val="35000"/>
              </a:srgbClr>
            </a:outerShdw>
          </a:effectLst>
        </p:spPr>
      </p:sp>
      <p:sp>
        <p:nvSpPr>
          <p:cNvPr id="9" name="Text 7"/>
          <p:cNvSpPr/>
          <p:nvPr/>
        </p:nvSpPr>
        <p:spPr>
          <a:xfrm>
            <a:off x="1828800" y="2468880"/>
            <a:ext cx="5486400" cy="914400"/>
          </a:xfrm>
          <a:prstGeom prst="rect">
            <a:avLst/>
          </a:prstGeom>
          <a:noFill/>
          <a:ln/>
        </p:spPr>
        <p:txBody>
          <a:bodyPr wrap="square" lIns="0" tIns="0" rIns="0" bIns="0" rtlCol="0" anchor="ctr"/>
          <a:lstStyle/>
          <a:p>
            <a:pPr algn="ctr" indent="0" marL="0">
              <a:buNone/>
            </a:pPr>
            <a:r>
              <a:rPr lang="en-US" sz="1700" dirty="0">
                <a:solidFill>
                  <a:srgbClr val="8B96AC"/>
                </a:solidFill>
                <a:latin typeface="Arial" pitchFamily="34" charset="0"/>
                <a:ea typeface="Arial" pitchFamily="34" charset="-122"/>
                <a:cs typeface="Arial" pitchFamily="34" charset="-120"/>
              </a:rPr>
              <a:t>Key Principle:  </a:t>
            </a:r>
            <a:pPr algn="ctr" indent="0" marL="0">
              <a:buNone/>
            </a:pPr>
            <a:r>
              <a:rPr lang="en-US" sz="1700" b="1" dirty="0">
                <a:solidFill>
                  <a:srgbClr val="22D3EE"/>
                </a:solidFill>
                <a:latin typeface="Arial" pitchFamily="34" charset="0"/>
                <a:ea typeface="Arial" pitchFamily="34" charset="-122"/>
                <a:cs typeface="Arial" pitchFamily="34" charset="-120"/>
              </a:rPr>
              <a:t>The work is done before the user decides.</a:t>
            </a:r>
            <a:endParaRPr lang="en-US" sz="1700" dirty="0"/>
          </a:p>
        </p:txBody>
      </p:sp>
      <p:sp>
        <p:nvSpPr>
          <p:cNvPr id="10" name="Shape 8"/>
          <p:cNvSpPr/>
          <p:nvPr/>
        </p:nvSpPr>
        <p:spPr>
          <a:xfrm>
            <a:off x="1188720" y="3794760"/>
            <a:ext cx="1920240" cy="640080"/>
          </a:xfrm>
          <a:prstGeom prst="roundRect">
            <a:avLst>
              <a:gd name="adj" fmla="val 11429"/>
            </a:avLst>
          </a:prstGeom>
          <a:solidFill>
            <a:srgbClr val="1B2A45"/>
          </a:solidFill>
          <a:ln/>
          <a:effectLst>
            <a:outerShdw sx="100000" sy="100000" kx="0" ky="0" algn="bl" rotWithShape="0" blurRad="101600" dist="38100" dir="5400000">
              <a:srgbClr val="000000">
                <a:alpha val="35000"/>
              </a:srgbClr>
            </a:outerShdw>
          </a:effectLst>
        </p:spPr>
      </p:sp>
      <p:sp>
        <p:nvSpPr>
          <p:cNvPr id="11" name="Text 9"/>
          <p:cNvSpPr/>
          <p:nvPr/>
        </p:nvSpPr>
        <p:spPr>
          <a:xfrm>
            <a:off x="1188720" y="3794760"/>
            <a:ext cx="1920240" cy="640080"/>
          </a:xfrm>
          <a:prstGeom prst="rect">
            <a:avLst/>
          </a:prstGeom>
          <a:noFill/>
          <a:ln/>
        </p:spPr>
        <p:txBody>
          <a:bodyPr wrap="square" lIns="0" tIns="0" rIns="0" bIns="0" rtlCol="0" anchor="ctr"/>
          <a:lstStyle/>
          <a:p>
            <a:pPr algn="ctr" indent="0" marL="0">
              <a:buNone/>
            </a:pPr>
            <a:r>
              <a:rPr lang="en-US" sz="1300" b="1" dirty="0">
                <a:solidFill>
                  <a:srgbClr val="7DE8F7"/>
                </a:solidFill>
                <a:latin typeface="Calibri" pitchFamily="34" charset="0"/>
                <a:ea typeface="Calibri" pitchFamily="34" charset="-122"/>
                <a:cs typeface="Calibri" pitchFamily="34" charset="-120"/>
              </a:rPr>
              <a:t>Candidate Copy</a:t>
            </a:r>
            <a:endParaRPr lang="en-US" sz="1300" dirty="0"/>
          </a:p>
        </p:txBody>
      </p:sp>
      <p:pic>
        <p:nvPicPr>
          <p:cNvPr id="12" name="Image 0" descr="preencoded.png">    </p:cNvPr>
          <p:cNvPicPr>
            <a:picLocks noChangeAspect="1"/>
          </p:cNvPicPr>
          <p:nvPr/>
        </p:nvPicPr>
        <p:blipFill>
          <a:blip r:embed="rId1"/>
          <a:stretch>
            <a:fillRect/>
          </a:stretch>
        </p:blipFill>
        <p:spPr>
          <a:xfrm>
            <a:off x="3241548" y="3995928"/>
            <a:ext cx="237744" cy="237744"/>
          </a:xfrm>
          <a:prstGeom prst="rect">
            <a:avLst/>
          </a:prstGeom>
        </p:spPr>
      </p:pic>
      <p:sp>
        <p:nvSpPr>
          <p:cNvPr id="13" name="Shape 10"/>
          <p:cNvSpPr/>
          <p:nvPr/>
        </p:nvSpPr>
        <p:spPr>
          <a:xfrm>
            <a:off x="3611880" y="3794760"/>
            <a:ext cx="1920240" cy="640080"/>
          </a:xfrm>
          <a:prstGeom prst="roundRect">
            <a:avLst>
              <a:gd name="adj" fmla="val 11429"/>
            </a:avLst>
          </a:prstGeom>
          <a:solidFill>
            <a:srgbClr val="1B2A45"/>
          </a:solidFill>
          <a:ln/>
          <a:effectLst>
            <a:outerShdw sx="100000" sy="100000" kx="0" ky="0" algn="bl" rotWithShape="0" blurRad="101600" dist="38100" dir="5400000">
              <a:srgbClr val="000000">
                <a:alpha val="35000"/>
              </a:srgbClr>
            </a:outerShdw>
          </a:effectLst>
        </p:spPr>
      </p:sp>
      <p:sp>
        <p:nvSpPr>
          <p:cNvPr id="14" name="Text 11"/>
          <p:cNvSpPr/>
          <p:nvPr/>
        </p:nvSpPr>
        <p:spPr>
          <a:xfrm>
            <a:off x="3611880" y="3794760"/>
            <a:ext cx="1920240" cy="640080"/>
          </a:xfrm>
          <a:prstGeom prst="rect">
            <a:avLst/>
          </a:prstGeom>
          <a:noFill/>
          <a:ln/>
        </p:spPr>
        <p:txBody>
          <a:bodyPr wrap="square" lIns="0" tIns="0" rIns="0" bIns="0" rtlCol="0" anchor="ctr"/>
          <a:lstStyle/>
          <a:p>
            <a:pPr algn="ctr" indent="0" marL="0">
              <a:buNone/>
            </a:pPr>
            <a:r>
              <a:rPr lang="en-US" sz="1300" b="1" dirty="0">
                <a:solidFill>
                  <a:srgbClr val="7DE8F7"/>
                </a:solidFill>
                <a:latin typeface="Calibri" pitchFamily="34" charset="0"/>
                <a:ea typeface="Calibri" pitchFamily="34" charset="-122"/>
                <a:cs typeface="Calibri" pitchFamily="34" charset="-120"/>
              </a:rPr>
              <a:t>Verify Safety</a:t>
            </a:r>
            <a:endParaRPr lang="en-US" sz="1300" dirty="0"/>
          </a:p>
        </p:txBody>
      </p:sp>
      <p:pic>
        <p:nvPicPr>
          <p:cNvPr id="15" name="Image 1" descr="preencoded.png">    </p:cNvPr>
          <p:cNvPicPr>
            <a:picLocks noChangeAspect="1"/>
          </p:cNvPicPr>
          <p:nvPr/>
        </p:nvPicPr>
        <p:blipFill>
          <a:blip r:embed="rId2"/>
          <a:stretch>
            <a:fillRect/>
          </a:stretch>
        </p:blipFill>
        <p:spPr>
          <a:xfrm>
            <a:off x="5664708" y="3995928"/>
            <a:ext cx="237744" cy="237744"/>
          </a:xfrm>
          <a:prstGeom prst="rect">
            <a:avLst/>
          </a:prstGeom>
        </p:spPr>
      </p:pic>
      <p:sp>
        <p:nvSpPr>
          <p:cNvPr id="16" name="Shape 12"/>
          <p:cNvSpPr/>
          <p:nvPr/>
        </p:nvSpPr>
        <p:spPr>
          <a:xfrm>
            <a:off x="6035040" y="3794760"/>
            <a:ext cx="1920240" cy="640080"/>
          </a:xfrm>
          <a:prstGeom prst="roundRect">
            <a:avLst>
              <a:gd name="adj" fmla="val 11429"/>
            </a:avLst>
          </a:prstGeom>
          <a:solidFill>
            <a:srgbClr val="1B2A45"/>
          </a:solidFill>
          <a:ln/>
          <a:effectLst>
            <a:outerShdw sx="100000" sy="100000" kx="0" ky="0" algn="bl" rotWithShape="0" blurRad="101600" dist="38100" dir="5400000">
              <a:srgbClr val="000000">
                <a:alpha val="35000"/>
              </a:srgbClr>
            </a:outerShdw>
          </a:effectLst>
        </p:spPr>
      </p:sp>
      <p:sp>
        <p:nvSpPr>
          <p:cNvPr id="17" name="Text 13"/>
          <p:cNvSpPr/>
          <p:nvPr/>
        </p:nvSpPr>
        <p:spPr>
          <a:xfrm>
            <a:off x="6035040" y="3794760"/>
            <a:ext cx="1920240" cy="640080"/>
          </a:xfrm>
          <a:prstGeom prst="rect">
            <a:avLst/>
          </a:prstGeom>
          <a:noFill/>
          <a:ln/>
        </p:spPr>
        <p:txBody>
          <a:bodyPr wrap="square" lIns="0" tIns="0" rIns="0" bIns="0" rtlCol="0" anchor="ctr"/>
          <a:lstStyle/>
          <a:p>
            <a:pPr algn="ctr" indent="0" marL="0">
              <a:buNone/>
            </a:pPr>
            <a:r>
              <a:rPr lang="en-US" sz="1300" b="1" dirty="0">
                <a:solidFill>
                  <a:srgbClr val="7DE8F7"/>
                </a:solidFill>
                <a:latin typeface="Calibri" pitchFamily="34" charset="0"/>
                <a:ea typeface="Calibri" pitchFamily="34" charset="-122"/>
                <a:cs typeface="Calibri" pitchFamily="34" charset="-120"/>
              </a:rPr>
              <a:t>Apply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274320" y="128016"/>
            <a:ext cx="146304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Arial" pitchFamily="34" charset="0"/>
                <a:ea typeface="Arial" pitchFamily="34" charset="-122"/>
                <a:cs typeface="Arial" pitchFamily="34" charset="-120"/>
              </a:rPr>
              <a:t>UiPath</a:t>
            </a:r>
            <a:endParaRPr lang="en-US" sz="1100" dirty="0"/>
          </a:p>
        </p:txBody>
      </p:sp>
      <p:sp>
        <p:nvSpPr>
          <p:cNvPr id="3" name="Text 1"/>
          <p:cNvSpPr/>
          <p:nvPr/>
        </p:nvSpPr>
        <p:spPr>
          <a:xfrm>
            <a:off x="5212080" y="91440"/>
            <a:ext cx="3657600" cy="411480"/>
          </a:xfrm>
          <a:prstGeom prst="rect">
            <a:avLst/>
          </a:prstGeom>
          <a:noFill/>
          <a:ln/>
        </p:spPr>
        <p:txBody>
          <a:bodyPr wrap="square" lIns="0" tIns="0" rIns="0" bIns="0" rtlCol="0" anchor="ctr"/>
          <a:lstStyle/>
          <a:p>
            <a:pPr algn="r" indent="0" marL="0">
              <a:lnSpc>
                <a:spcPct val="110000"/>
              </a:lnSpc>
              <a:buNone/>
            </a:pPr>
            <a:r>
              <a:rPr lang="en-US" sz="750" b="1" dirty="0">
                <a:solidFill>
                  <a:srgbClr val="22D3EE"/>
                </a:solidFill>
                <a:latin typeface="Calibri" pitchFamily="34" charset="0"/>
                <a:ea typeface="Calibri" pitchFamily="34" charset="-122"/>
                <a:cs typeface="Calibri" pitchFamily="34" charset="-120"/>
              </a:rPr>
              <a:t>UiPath AgentHack</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Track 2 — Maestro Orchestrator</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Team: The OneShot  ·  Author: Minh Le</a:t>
            </a:r>
            <a:endParaRPr lang="en-US" sz="750" dirty="0"/>
          </a:p>
        </p:txBody>
      </p:sp>
      <p:sp>
        <p:nvSpPr>
          <p:cNvPr id="4" name="Text 2"/>
          <p:cNvSpPr/>
          <p:nvPr/>
        </p:nvSpPr>
        <p:spPr>
          <a:xfrm>
            <a:off x="274320" y="4882896"/>
            <a:ext cx="3840480" cy="201168"/>
          </a:xfrm>
          <a:prstGeom prst="rect">
            <a:avLst/>
          </a:prstGeom>
          <a:noFill/>
          <a:ln/>
        </p:spPr>
        <p:txBody>
          <a:bodyPr wrap="square" lIns="0" tIns="0" rIns="0" bIns="0" rtlCol="0" anchor="ctr"/>
          <a:lstStyle/>
          <a:p>
            <a:pPr algn="l" indent="0" marL="0">
              <a:buNone/>
            </a:pPr>
            <a:r>
              <a:rPr lang="en-US" sz="700" dirty="0">
                <a:solidFill>
                  <a:srgbClr val="5C6680"/>
                </a:solidFill>
                <a:latin typeface="Calibri" pitchFamily="34" charset="0"/>
                <a:ea typeface="Calibri" pitchFamily="34" charset="-122"/>
                <a:cs typeface="Calibri" pitchFamily="34" charset="-120"/>
              </a:rPr>
              <a:t>Apache License 2.0   ·   © 2026 The OneShot</a:t>
            </a:r>
            <a:endParaRPr lang="en-US" sz="700" dirty="0"/>
          </a:p>
        </p:txBody>
      </p:sp>
      <p:sp>
        <p:nvSpPr>
          <p:cNvPr id="5" name="Text 3"/>
          <p:cNvSpPr/>
          <p:nvPr/>
        </p:nvSpPr>
        <p:spPr>
          <a:xfrm>
            <a:off x="3657600" y="4846320"/>
            <a:ext cx="5212080" cy="274320"/>
          </a:xfrm>
          <a:prstGeom prst="rect">
            <a:avLst/>
          </a:prstGeom>
          <a:noFill/>
          <a:ln/>
        </p:spPr>
        <p:txBody>
          <a:bodyPr wrap="square" lIns="0" tIns="0" rIns="0" bIns="0" rtlCol="0" anchor="ctr"/>
          <a:lstStyle/>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Builders: Kiro, Codex   ·   Agent Helpers: Qwen, ChatGPT, Claude, Mistral</a:t>
            </a:r>
            <a:endParaRPr lang="en-US" sz="650" dirty="0"/>
          </a:p>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Garbage: Auto Pilot (GitHub)</a:t>
            </a:r>
            <a:endParaRPr lang="en-US" sz="650" dirty="0"/>
          </a:p>
        </p:txBody>
      </p:sp>
      <p:sp>
        <p:nvSpPr>
          <p:cNvPr id="6" name="Text 4"/>
          <p:cNvSpPr/>
          <p:nvPr/>
        </p:nvSpPr>
        <p:spPr>
          <a:xfrm>
            <a:off x="457200" y="548640"/>
            <a:ext cx="8229600" cy="502920"/>
          </a:xfrm>
          <a:prstGeom prst="rect">
            <a:avLst/>
          </a:prstGeom>
          <a:noFill/>
          <a:ln/>
        </p:spPr>
        <p:txBody>
          <a:bodyPr wrap="square" lIns="0" tIns="0" rIns="0" bIns="0" rtlCol="0" anchor="ctr"/>
          <a:lstStyle/>
          <a:p>
            <a:pPr indent="0" marL="0">
              <a:buNone/>
            </a:pPr>
            <a:r>
              <a:rPr lang="en-US" sz="2500" b="1" dirty="0">
                <a:solidFill>
                  <a:srgbClr val="E6EAF2"/>
                </a:solidFill>
                <a:latin typeface="Arial" pitchFamily="34" charset="0"/>
                <a:ea typeface="Arial" pitchFamily="34" charset="-122"/>
                <a:cs typeface="Arial" pitchFamily="34" charset="-120"/>
              </a:rPr>
              <a:t>How NextFlow Works — Six Deterministic Phases</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15568"/>
          <a:ext cx="8229600" cy="914400"/>
        </p:xfrm>
        <a:graphic>
          <a:graphicData uri="http://schemas.openxmlformats.org/drawingml/2006/table">
            <a:tbl>
              <a:tblPr/>
              <a:tblGrid>
                <a:gridCol w="2194560"/>
                <a:gridCol w="6035040"/>
              </a:tblGrid>
              <a:tr h="292608">
                <a:tc>
                  <a:txBody>
                    <a:bodyPr/>
                    <a:lstStyle/>
                    <a:p>
                      <a:pPr indent="0" marL="0">
                        <a:buNone/>
                      </a:pPr>
                      <a:r>
                        <a:rPr lang="en-US" sz="1200" b="1" dirty="0">
                          <a:solidFill>
                            <a:srgbClr val="22D3EE"/>
                          </a:solidFill>
                          <a:latin typeface="Arial" pitchFamily="34" charset="0"/>
                          <a:ea typeface="Arial" pitchFamily="34" charset="-122"/>
                          <a:cs typeface="Arial" pitchFamily="34" charset="-120"/>
                        </a:rPr>
                        <a:t>Phase</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5"/>
                    </a:solidFill>
                  </a:tcPr>
                </a:tc>
                <a:tc>
                  <a:txBody>
                    <a:bodyPr/>
                    <a:lstStyle/>
                    <a:p>
                      <a:pPr indent="0" marL="0">
                        <a:buNone/>
                      </a:pPr>
                      <a:r>
                        <a:rPr lang="en-US" sz="1200" b="1" dirty="0">
                          <a:solidFill>
                            <a:srgbClr val="22D3EE"/>
                          </a:solidFill>
                          <a:latin typeface="Arial" pitchFamily="34" charset="0"/>
                          <a:ea typeface="Arial" pitchFamily="34" charset="-122"/>
                          <a:cs typeface="Arial" pitchFamily="34" charset="-120"/>
                        </a:rPr>
                        <a:t>What Happens</a:t>
                      </a:r>
                      <a:endParaRPr lang="en-US" sz="12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2A45"/>
                    </a:solidFill>
                  </a:tcPr>
                </a:tc>
              </a:tr>
              <a:tr h="502920">
                <a:tc>
                  <a:txBody>
                    <a:bodyPr/>
                    <a:lstStyle/>
                    <a:p>
                      <a:pPr indent="0" marL="0">
                        <a:buNone/>
                      </a:pPr>
                      <a:r>
                        <a:rPr lang="en-US" sz="1150" b="1" dirty="0">
                          <a:solidFill>
                            <a:srgbClr val="7DE8F7"/>
                          </a:solidFill>
                          <a:latin typeface="Calibri" pitchFamily="34" charset="0"/>
                          <a:ea typeface="Calibri" pitchFamily="34" charset="-122"/>
                          <a:cs typeface="Calibri" pitchFamily="34" charset="-120"/>
                        </a:rPr>
                        <a:t>1. Snapshot</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21C30"/>
                    </a:solidFill>
                  </a:tcPr>
                </a:tc>
                <a:tc>
                  <a:txBody>
                    <a:bodyPr/>
                    <a:lstStyle/>
                    <a:p>
                      <a:pPr indent="0" marL="0">
                        <a:buNone/>
                      </a:pPr>
                      <a:r>
                        <a:rPr lang="en-US" sz="1150" dirty="0">
                          <a:solidFill>
                            <a:srgbClr val="E6EAF2"/>
                          </a:solidFill>
                          <a:latin typeface="Calibri" pitchFamily="34" charset="0"/>
                          <a:ea typeface="Calibri" pitchFamily="34" charset="-122"/>
                          <a:cs typeface="Calibri" pitchFamily="34" charset="-120"/>
                        </a:rPr>
                        <a:t>Capture original project state. Hash every file. Create restore point.</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21C30"/>
                    </a:solidFill>
                  </a:tcPr>
                </a:tc>
              </a:tr>
              <a:tr h="502920">
                <a:tc>
                  <a:txBody>
                    <a:bodyPr/>
                    <a:lstStyle/>
                    <a:p>
                      <a:pPr indent="0" marL="0">
                        <a:buNone/>
                      </a:pPr>
                      <a:r>
                        <a:rPr lang="en-US" sz="1150" b="1" dirty="0">
                          <a:solidFill>
                            <a:srgbClr val="7DE8F7"/>
                          </a:solidFill>
                          <a:latin typeface="Calibri" pitchFamily="34" charset="0"/>
                          <a:ea typeface="Calibri" pitchFamily="34" charset="-122"/>
                          <a:cs typeface="Calibri" pitchFamily="34" charset="-120"/>
                        </a:rPr>
                        <a:t>2. Scan &amp; Analysis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6223A"/>
                    </a:solidFill>
                  </a:tcPr>
                </a:tc>
                <a:tc>
                  <a:txBody>
                    <a:bodyPr/>
                    <a:lstStyle/>
                    <a:p>
                      <a:pPr indent="0" marL="0">
                        <a:buNone/>
                      </a:pPr>
                      <a:r>
                        <a:rPr lang="en-US" sz="1150" dirty="0">
                          <a:solidFill>
                            <a:srgbClr val="E6EAF2"/>
                          </a:solidFill>
                          <a:latin typeface="Calibri" pitchFamily="34" charset="0"/>
                          <a:ea typeface="Calibri" pitchFamily="34" charset="-122"/>
                          <a:cs typeface="Calibri" pitchFamily="34" charset="-120"/>
                        </a:rPr>
                        <a:t>Real Python analysis (compileall + AST). Find all issues. Generate statements.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6223A"/>
                    </a:solidFill>
                  </a:tcPr>
                </a:tc>
              </a:tr>
              <a:tr h="502920">
                <a:tc>
                  <a:txBody>
                    <a:bodyPr/>
                    <a:lstStyle/>
                    <a:p>
                      <a:pPr indent="0" marL="0">
                        <a:buNone/>
                      </a:pPr>
                      <a:r>
                        <a:rPr lang="en-US" sz="1150" b="1" dirty="0">
                          <a:solidFill>
                            <a:srgbClr val="7DE8F7"/>
                          </a:solidFill>
                          <a:latin typeface="Calibri" pitchFamily="34" charset="0"/>
                          <a:ea typeface="Calibri" pitchFamily="34" charset="-122"/>
                          <a:cs typeface="Calibri" pitchFamily="34" charset="-120"/>
                        </a:rPr>
                        <a:t>3. Pre-Simulation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21C30"/>
                    </a:solidFill>
                  </a:tcPr>
                </a:tc>
                <a:tc>
                  <a:txBody>
                    <a:bodyPr/>
                    <a:lstStyle/>
                    <a:p>
                      <a:pPr indent="0" marL="0">
                        <a:buNone/>
                      </a:pPr>
                      <a:r>
                        <a:rPr lang="en-US" sz="1150" dirty="0">
                          <a:solidFill>
                            <a:srgbClr val="E6EAF2"/>
                          </a:solidFill>
                          <a:latin typeface="Calibri" pitchFamily="34" charset="0"/>
                          <a:ea typeface="Calibri" pitchFamily="34" charset="-122"/>
                          <a:cs typeface="Calibri" pitchFamily="34" charset="-120"/>
                        </a:rPr>
                        <a:t>AI agent evaluates information completeness. Score against 93.91% threshold.</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21C30"/>
                    </a:solidFill>
                  </a:tcPr>
                </a:tc>
              </a:tr>
              <a:tr h="502920">
                <a:tc>
                  <a:txBody>
                    <a:bodyPr/>
                    <a:lstStyle/>
                    <a:p>
                      <a:pPr indent="0" marL="0">
                        <a:buNone/>
                      </a:pPr>
                      <a:r>
                        <a:rPr lang="en-US" sz="1150" b="1" dirty="0">
                          <a:solidFill>
                            <a:srgbClr val="7DE8F7"/>
                          </a:solidFill>
                          <a:latin typeface="Calibri" pitchFamily="34" charset="0"/>
                          <a:ea typeface="Calibri" pitchFamily="34" charset="-122"/>
                          <a:cs typeface="Calibri" pitchFamily="34" charset="-120"/>
                        </a:rPr>
                        <a:t>4. Simulation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6223A"/>
                    </a:solidFill>
                  </a:tcPr>
                </a:tc>
                <a:tc>
                  <a:txBody>
                    <a:bodyPr/>
                    <a:lstStyle/>
                    <a:p>
                      <a:pPr indent="0" marL="0">
                        <a:buNone/>
                      </a:pPr>
                      <a:r>
                        <a:rPr lang="en-US" sz="1150" dirty="0">
                          <a:solidFill>
                            <a:srgbClr val="E6EAF2"/>
                          </a:solidFill>
                          <a:latin typeface="Calibri" pitchFamily="34" charset="0"/>
                          <a:ea typeface="Calibri" pitchFamily="34" charset="-122"/>
                          <a:cs typeface="Calibri" pitchFamily="34" charset="-120"/>
                        </a:rPr>
                        <a:t>Apply fixes to candidate copy. All mutations happen here, not on real files.</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6223A"/>
                    </a:solidFill>
                  </a:tcPr>
                </a:tc>
              </a:tr>
              <a:tr h="502920">
                <a:tc>
                  <a:txBody>
                    <a:bodyPr/>
                    <a:lstStyle/>
                    <a:p>
                      <a:pPr indent="0" marL="0">
                        <a:buNone/>
                      </a:pPr>
                      <a:r>
                        <a:rPr lang="en-US" sz="1150" b="1" dirty="0">
                          <a:solidFill>
                            <a:srgbClr val="7DE8F7"/>
                          </a:solidFill>
                          <a:latin typeface="Calibri" pitchFamily="34" charset="0"/>
                          <a:ea typeface="Calibri" pitchFamily="34" charset="-122"/>
                          <a:cs typeface="Calibri" pitchFamily="34" charset="-120"/>
                        </a:rPr>
                        <a:t>5. Inspection</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21C30"/>
                    </a:solidFill>
                  </a:tcPr>
                </a:tc>
                <a:tc>
                  <a:txBody>
                    <a:bodyPr/>
                    <a:lstStyle/>
                    <a:p>
                      <a:pPr indent="0" marL="0">
                        <a:buNone/>
                      </a:pPr>
                      <a:r>
                        <a:rPr lang="en-US" sz="1150" dirty="0">
                          <a:solidFill>
                            <a:srgbClr val="E6EAF2"/>
                          </a:solidFill>
                          <a:latin typeface="Calibri" pitchFamily="34" charset="0"/>
                          <a:ea typeface="Calibri" pitchFamily="34" charset="-122"/>
                          <a:cs typeface="Calibri" pitchFamily="34" charset="-120"/>
                        </a:rPr>
                        <a:t>Verify candidate integrity. Hash everything. Prepare before/after diff.</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21C30"/>
                    </a:solidFill>
                  </a:tcPr>
                </a:tc>
              </a:tr>
              <a:tr h="502920">
                <a:tc>
                  <a:txBody>
                    <a:bodyPr/>
                    <a:lstStyle/>
                    <a:p>
                      <a:pPr indent="0" marL="0">
                        <a:buNone/>
                      </a:pPr>
                      <a:r>
                        <a:rPr lang="en-US" sz="1150" b="1" dirty="0">
                          <a:solidFill>
                            <a:srgbClr val="7DE8F7"/>
                          </a:solidFill>
                          <a:latin typeface="Calibri" pitchFamily="34" charset="0"/>
                          <a:ea typeface="Calibri" pitchFamily="34" charset="-122"/>
                          <a:cs typeface="Calibri" pitchFamily="34" charset="-120"/>
                        </a:rPr>
                        <a:t>6. Relay</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6223A"/>
                    </a:solidFill>
                  </a:tcPr>
                </a:tc>
                <a:tc>
                  <a:txBody>
                    <a:bodyPr/>
                    <a:lstStyle/>
                    <a:p>
                      <a:pPr indent="0" marL="0">
                        <a:buNone/>
                      </a:pPr>
                      <a:r>
                        <a:rPr lang="en-US" sz="1150" dirty="0">
                          <a:solidFill>
                            <a:srgbClr val="E6EAF2"/>
                          </a:solidFill>
                          <a:latin typeface="Calibri" pitchFamily="34" charset="0"/>
                          <a:ea typeface="Calibri" pitchFamily="34" charset="-122"/>
                          <a:cs typeface="Calibri" pitchFamily="34" charset="-120"/>
                        </a:rPr>
                        <a:t>Show user resolved vs. unresolved items. User decides: Apply or Cancel.</a:t>
                      </a:r>
                      <a:endParaRPr lang="en-US" sz="11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6223A"/>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274320" y="128016"/>
            <a:ext cx="146304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Arial" pitchFamily="34" charset="0"/>
                <a:ea typeface="Arial" pitchFamily="34" charset="-122"/>
                <a:cs typeface="Arial" pitchFamily="34" charset="-120"/>
              </a:rPr>
              <a:t>UiPath</a:t>
            </a:r>
            <a:endParaRPr lang="en-US" sz="1100" dirty="0"/>
          </a:p>
        </p:txBody>
      </p:sp>
      <p:sp>
        <p:nvSpPr>
          <p:cNvPr id="3" name="Text 1"/>
          <p:cNvSpPr/>
          <p:nvPr/>
        </p:nvSpPr>
        <p:spPr>
          <a:xfrm>
            <a:off x="5212080" y="91440"/>
            <a:ext cx="3657600" cy="411480"/>
          </a:xfrm>
          <a:prstGeom prst="rect">
            <a:avLst/>
          </a:prstGeom>
          <a:noFill/>
          <a:ln/>
        </p:spPr>
        <p:txBody>
          <a:bodyPr wrap="square" lIns="0" tIns="0" rIns="0" bIns="0" rtlCol="0" anchor="ctr"/>
          <a:lstStyle/>
          <a:p>
            <a:pPr algn="r" indent="0" marL="0">
              <a:lnSpc>
                <a:spcPct val="110000"/>
              </a:lnSpc>
              <a:buNone/>
            </a:pPr>
            <a:r>
              <a:rPr lang="en-US" sz="750" b="1" dirty="0">
                <a:solidFill>
                  <a:srgbClr val="22D3EE"/>
                </a:solidFill>
                <a:latin typeface="Calibri" pitchFamily="34" charset="0"/>
                <a:ea typeface="Calibri" pitchFamily="34" charset="-122"/>
                <a:cs typeface="Calibri" pitchFamily="34" charset="-120"/>
              </a:rPr>
              <a:t>UiPath AgentHack</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Track 2 — Maestro Orchestrator</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Team: The OneShot  ·  Author: Minh Le</a:t>
            </a:r>
            <a:endParaRPr lang="en-US" sz="750" dirty="0"/>
          </a:p>
        </p:txBody>
      </p:sp>
      <p:sp>
        <p:nvSpPr>
          <p:cNvPr id="4" name="Text 2"/>
          <p:cNvSpPr/>
          <p:nvPr/>
        </p:nvSpPr>
        <p:spPr>
          <a:xfrm>
            <a:off x="274320" y="4882896"/>
            <a:ext cx="3840480" cy="201168"/>
          </a:xfrm>
          <a:prstGeom prst="rect">
            <a:avLst/>
          </a:prstGeom>
          <a:noFill/>
          <a:ln/>
        </p:spPr>
        <p:txBody>
          <a:bodyPr wrap="square" lIns="0" tIns="0" rIns="0" bIns="0" rtlCol="0" anchor="ctr"/>
          <a:lstStyle/>
          <a:p>
            <a:pPr algn="l" indent="0" marL="0">
              <a:buNone/>
            </a:pPr>
            <a:r>
              <a:rPr lang="en-US" sz="700" dirty="0">
                <a:solidFill>
                  <a:srgbClr val="5C6680"/>
                </a:solidFill>
                <a:latin typeface="Calibri" pitchFamily="34" charset="0"/>
                <a:ea typeface="Calibri" pitchFamily="34" charset="-122"/>
                <a:cs typeface="Calibri" pitchFamily="34" charset="-120"/>
              </a:rPr>
              <a:t>Apache License 2.0   ·   © 2026 The OneShot</a:t>
            </a:r>
            <a:endParaRPr lang="en-US" sz="700" dirty="0"/>
          </a:p>
        </p:txBody>
      </p:sp>
      <p:sp>
        <p:nvSpPr>
          <p:cNvPr id="5" name="Text 3"/>
          <p:cNvSpPr/>
          <p:nvPr/>
        </p:nvSpPr>
        <p:spPr>
          <a:xfrm>
            <a:off x="3657600" y="4846320"/>
            <a:ext cx="5212080" cy="274320"/>
          </a:xfrm>
          <a:prstGeom prst="rect">
            <a:avLst/>
          </a:prstGeom>
          <a:noFill/>
          <a:ln/>
        </p:spPr>
        <p:txBody>
          <a:bodyPr wrap="square" lIns="0" tIns="0" rIns="0" bIns="0" rtlCol="0" anchor="ctr"/>
          <a:lstStyle/>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Builders: Kiro, Codex   ·   Agent Helpers: Qwen, ChatGPT, Claude, Mistral</a:t>
            </a:r>
            <a:endParaRPr lang="en-US" sz="650" dirty="0"/>
          </a:p>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Garbage: Auto Pilot (GitHub)</a:t>
            </a:r>
            <a:endParaRPr lang="en-US" sz="650" dirty="0"/>
          </a:p>
        </p:txBody>
      </p:sp>
      <p:sp>
        <p:nvSpPr>
          <p:cNvPr id="6" name="Text 4"/>
          <p:cNvSpPr/>
          <p:nvPr/>
        </p:nvSpPr>
        <p:spPr>
          <a:xfrm>
            <a:off x="457200" y="566928"/>
            <a:ext cx="8229600" cy="502920"/>
          </a:xfrm>
          <a:prstGeom prst="rect">
            <a:avLst/>
          </a:prstGeom>
          <a:noFill/>
          <a:ln/>
        </p:spPr>
        <p:txBody>
          <a:bodyPr wrap="square" lIns="0" tIns="0" rIns="0" bIns="0" rtlCol="0" anchor="ctr"/>
          <a:lstStyle/>
          <a:p>
            <a:pPr indent="0" marL="0">
              <a:buNone/>
            </a:pPr>
            <a:r>
              <a:rPr lang="en-US" sz="2500" b="1" dirty="0">
                <a:solidFill>
                  <a:srgbClr val="E6EAF2"/>
                </a:solidFill>
                <a:latin typeface="Arial" pitchFamily="34" charset="0"/>
                <a:ea typeface="Arial" pitchFamily="34" charset="-122"/>
                <a:cs typeface="Arial" pitchFamily="34" charset="-120"/>
              </a:rPr>
              <a:t>Phases 1–2: Capture State, Then Analyze</a:t>
            </a:r>
            <a:endParaRPr lang="en-US" sz="2500" dirty="0"/>
          </a:p>
        </p:txBody>
      </p:sp>
      <p:sp>
        <p:nvSpPr>
          <p:cNvPr id="7" name="Shape 5"/>
          <p:cNvSpPr/>
          <p:nvPr/>
        </p:nvSpPr>
        <p:spPr>
          <a:xfrm>
            <a:off x="457200" y="1325880"/>
            <a:ext cx="3931920" cy="3383280"/>
          </a:xfrm>
          <a:prstGeom prst="roundRect">
            <a:avLst>
              <a:gd name="adj" fmla="val 2162"/>
            </a:avLst>
          </a:prstGeom>
          <a:solidFill>
            <a:srgbClr val="121C30"/>
          </a:solidFill>
          <a:ln/>
          <a:effectLst>
            <a:outerShdw sx="100000" sy="100000" kx="0" ky="0" algn="bl" rotWithShape="0" blurRad="101600" dist="38100" dir="5400000">
              <a:srgbClr val="000000">
                <a:alpha val="35000"/>
              </a:srgbClr>
            </a:outerShdw>
          </a:effectLst>
        </p:spPr>
      </p:sp>
      <p:sp>
        <p:nvSpPr>
          <p:cNvPr id="8" name="Shape 6"/>
          <p:cNvSpPr/>
          <p:nvPr/>
        </p:nvSpPr>
        <p:spPr>
          <a:xfrm>
            <a:off x="731520" y="1600200"/>
            <a:ext cx="502920" cy="502920"/>
          </a:xfrm>
          <a:prstGeom prst="ellipse">
            <a:avLst/>
          </a:prstGeom>
          <a:solidFill>
            <a:srgbClr val="22D3EE"/>
          </a:solidFill>
          <a:ln/>
        </p:spPr>
      </p:sp>
      <p:pic>
        <p:nvPicPr>
          <p:cNvPr id="9" name="Image 0" descr="preencoded.png">    </p:cNvPr>
          <p:cNvPicPr>
            <a:picLocks noChangeAspect="1"/>
          </p:cNvPicPr>
          <p:nvPr/>
        </p:nvPicPr>
        <p:blipFill>
          <a:blip r:embed="rId1"/>
          <a:stretch>
            <a:fillRect/>
          </a:stretch>
        </p:blipFill>
        <p:spPr>
          <a:xfrm>
            <a:off x="862279" y="1730959"/>
            <a:ext cx="241402" cy="241402"/>
          </a:xfrm>
          <a:prstGeom prst="rect">
            <a:avLst/>
          </a:prstGeom>
        </p:spPr>
      </p:pic>
      <p:sp>
        <p:nvSpPr>
          <p:cNvPr id="10" name="Text 7"/>
          <p:cNvSpPr/>
          <p:nvPr/>
        </p:nvSpPr>
        <p:spPr>
          <a:xfrm>
            <a:off x="1371600" y="1600200"/>
            <a:ext cx="2834640" cy="502920"/>
          </a:xfrm>
          <a:prstGeom prst="rect">
            <a:avLst/>
          </a:prstGeom>
          <a:noFill/>
          <a:ln/>
        </p:spPr>
        <p:txBody>
          <a:bodyPr wrap="square" lIns="0" tIns="0" rIns="0" bIns="0" rtlCol="0" anchor="ctr"/>
          <a:lstStyle/>
          <a:p>
            <a:pPr indent="0" marL="0">
              <a:buNone/>
            </a:pPr>
            <a:r>
              <a:rPr lang="en-US" sz="1500" b="1" dirty="0">
                <a:solidFill>
                  <a:srgbClr val="E6EAF2"/>
                </a:solidFill>
                <a:latin typeface="Arial" pitchFamily="34" charset="0"/>
                <a:ea typeface="Arial" pitchFamily="34" charset="-122"/>
                <a:cs typeface="Arial" pitchFamily="34" charset="-120"/>
              </a:rPr>
              <a:t>Snapshot Phase</a:t>
            </a:r>
            <a:endParaRPr lang="en-US" sz="1500" dirty="0"/>
          </a:p>
        </p:txBody>
      </p:sp>
      <p:sp>
        <p:nvSpPr>
          <p:cNvPr id="11" name="Text 8"/>
          <p:cNvSpPr/>
          <p:nvPr/>
        </p:nvSpPr>
        <p:spPr>
          <a:xfrm>
            <a:off x="731520" y="2286000"/>
            <a:ext cx="3383280" cy="219456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Captures the exact original state of your project</a:t>
            </a:r>
            <a:endParaRPr lang="en-US" sz="1150" dirty="0"/>
          </a:p>
          <a:p>
            <a:pPr marL="342900" indent="-342900">
              <a:lnSpc>
                <a:spcPct val="115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Hashes every file for integrity verification</a:t>
            </a:r>
            <a:endParaRPr lang="en-US" sz="1150" dirty="0"/>
          </a:p>
          <a:p>
            <a:pPr marL="342900" indent="-342900">
              <a:lnSpc>
                <a:spcPct val="115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Creates a restore point available at any time throughout the workflow</a:t>
            </a:r>
            <a:endParaRPr lang="en-US" sz="1150" dirty="0"/>
          </a:p>
          <a:p>
            <a:pPr marL="342900" indent="-342900">
              <a:lnSpc>
                <a:spcPct val="115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Ensures you can always roll back to the beginning, no matter what happens</a:t>
            </a:r>
            <a:endParaRPr lang="en-US" sz="1150" dirty="0"/>
          </a:p>
        </p:txBody>
      </p:sp>
      <p:sp>
        <p:nvSpPr>
          <p:cNvPr id="12" name="Shape 9"/>
          <p:cNvSpPr/>
          <p:nvPr/>
        </p:nvSpPr>
        <p:spPr>
          <a:xfrm>
            <a:off x="4663440" y="1325880"/>
            <a:ext cx="3931920" cy="3383280"/>
          </a:xfrm>
          <a:prstGeom prst="roundRect">
            <a:avLst>
              <a:gd name="adj" fmla="val 2162"/>
            </a:avLst>
          </a:prstGeom>
          <a:solidFill>
            <a:srgbClr val="121C30"/>
          </a:solidFill>
          <a:ln/>
          <a:effectLst>
            <a:outerShdw sx="100000" sy="100000" kx="0" ky="0" algn="bl" rotWithShape="0" blurRad="101600" dist="38100" dir="5400000">
              <a:srgbClr val="000000">
                <a:alpha val="35000"/>
              </a:srgbClr>
            </a:outerShdw>
          </a:effectLst>
        </p:spPr>
      </p:sp>
      <p:sp>
        <p:nvSpPr>
          <p:cNvPr id="13" name="Shape 10"/>
          <p:cNvSpPr/>
          <p:nvPr/>
        </p:nvSpPr>
        <p:spPr>
          <a:xfrm>
            <a:off x="4937760" y="1600200"/>
            <a:ext cx="502920" cy="502920"/>
          </a:xfrm>
          <a:prstGeom prst="ellipse">
            <a:avLst/>
          </a:prstGeom>
          <a:solidFill>
            <a:srgbClr val="22D3EE"/>
          </a:solidFill>
          <a:ln/>
        </p:spPr>
      </p:sp>
      <p:pic>
        <p:nvPicPr>
          <p:cNvPr id="14" name="Image 1" descr="preencoded.png">    </p:cNvPr>
          <p:cNvPicPr>
            <a:picLocks noChangeAspect="1"/>
          </p:cNvPicPr>
          <p:nvPr/>
        </p:nvPicPr>
        <p:blipFill>
          <a:blip r:embed="rId2"/>
          <a:stretch>
            <a:fillRect/>
          </a:stretch>
        </p:blipFill>
        <p:spPr>
          <a:xfrm>
            <a:off x="5068519" y="1730959"/>
            <a:ext cx="241402" cy="241402"/>
          </a:xfrm>
          <a:prstGeom prst="rect">
            <a:avLst/>
          </a:prstGeom>
        </p:spPr>
      </p:pic>
      <p:sp>
        <p:nvSpPr>
          <p:cNvPr id="15" name="Text 11"/>
          <p:cNvSpPr/>
          <p:nvPr/>
        </p:nvSpPr>
        <p:spPr>
          <a:xfrm>
            <a:off x="5577840" y="1600200"/>
            <a:ext cx="2834640" cy="502920"/>
          </a:xfrm>
          <a:prstGeom prst="rect">
            <a:avLst/>
          </a:prstGeom>
          <a:noFill/>
          <a:ln/>
        </p:spPr>
        <p:txBody>
          <a:bodyPr wrap="square" lIns="0" tIns="0" rIns="0" bIns="0" rtlCol="0" anchor="ctr"/>
          <a:lstStyle/>
          <a:p>
            <a:pPr indent="0" marL="0">
              <a:buNone/>
            </a:pPr>
            <a:r>
              <a:rPr lang="en-US" sz="1500" b="1" dirty="0">
                <a:solidFill>
                  <a:srgbClr val="E6EAF2"/>
                </a:solidFill>
                <a:latin typeface="Arial" pitchFamily="34" charset="0"/>
                <a:ea typeface="Arial" pitchFamily="34" charset="-122"/>
                <a:cs typeface="Arial" pitchFamily="34" charset="-120"/>
              </a:rPr>
              <a:t>Scan &amp; Analysis Phase</a:t>
            </a:r>
            <a:endParaRPr lang="en-US" sz="1500" dirty="0"/>
          </a:p>
        </p:txBody>
      </p:sp>
      <p:sp>
        <p:nvSpPr>
          <p:cNvPr id="16" name="Text 12"/>
          <p:cNvSpPr/>
          <p:nvPr/>
        </p:nvSpPr>
        <p:spPr>
          <a:xfrm>
            <a:off x="4937760" y="2286000"/>
            <a:ext cx="3383280" cy="219456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Uses Python's compileall module for real syntax detection (not pattern matching)</a:t>
            </a:r>
            <a:endParaRPr lang="en-US" sz="1150" dirty="0"/>
          </a:p>
          <a:p>
            <a:pPr marL="342900" indent="-342900">
              <a:lnSpc>
                <a:spcPct val="115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AST analysis for dependency and import resolution</a:t>
            </a:r>
            <a:endParaRPr lang="en-US" sz="1150" dirty="0"/>
          </a:p>
          <a:p>
            <a:pPr marL="342900" indent="-342900">
              <a:lnSpc>
                <a:spcPct val="115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Generates three required statements: Handoff, LLM Advisory, Pre-Calibration</a:t>
            </a:r>
            <a:endParaRPr lang="en-US" sz="1150" dirty="0"/>
          </a:p>
          <a:p>
            <a:pPr marL="342900" indent="-342900">
              <a:lnSpc>
                <a:spcPct val="115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Produces structured findings with severity levels and exact locations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274320" y="128016"/>
            <a:ext cx="146304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Arial" pitchFamily="34" charset="0"/>
                <a:ea typeface="Arial" pitchFamily="34" charset="-122"/>
                <a:cs typeface="Arial" pitchFamily="34" charset="-120"/>
              </a:rPr>
              <a:t>UiPath</a:t>
            </a:r>
            <a:endParaRPr lang="en-US" sz="1100" dirty="0"/>
          </a:p>
        </p:txBody>
      </p:sp>
      <p:sp>
        <p:nvSpPr>
          <p:cNvPr id="3" name="Text 1"/>
          <p:cNvSpPr/>
          <p:nvPr/>
        </p:nvSpPr>
        <p:spPr>
          <a:xfrm>
            <a:off x="5212080" y="91440"/>
            <a:ext cx="3657600" cy="411480"/>
          </a:xfrm>
          <a:prstGeom prst="rect">
            <a:avLst/>
          </a:prstGeom>
          <a:noFill/>
          <a:ln/>
        </p:spPr>
        <p:txBody>
          <a:bodyPr wrap="square" lIns="0" tIns="0" rIns="0" bIns="0" rtlCol="0" anchor="ctr"/>
          <a:lstStyle/>
          <a:p>
            <a:pPr algn="r" indent="0" marL="0">
              <a:lnSpc>
                <a:spcPct val="110000"/>
              </a:lnSpc>
              <a:buNone/>
            </a:pPr>
            <a:r>
              <a:rPr lang="en-US" sz="750" b="1" dirty="0">
                <a:solidFill>
                  <a:srgbClr val="22D3EE"/>
                </a:solidFill>
                <a:latin typeface="Calibri" pitchFamily="34" charset="0"/>
                <a:ea typeface="Calibri" pitchFamily="34" charset="-122"/>
                <a:cs typeface="Calibri" pitchFamily="34" charset="-120"/>
              </a:rPr>
              <a:t>UiPath AgentHack</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Track 2 — Maestro Orchestrator</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Team: The OneShot  ·  Author: Minh Le</a:t>
            </a:r>
            <a:endParaRPr lang="en-US" sz="750" dirty="0"/>
          </a:p>
        </p:txBody>
      </p:sp>
      <p:sp>
        <p:nvSpPr>
          <p:cNvPr id="4" name="Text 2"/>
          <p:cNvSpPr/>
          <p:nvPr/>
        </p:nvSpPr>
        <p:spPr>
          <a:xfrm>
            <a:off x="274320" y="4882896"/>
            <a:ext cx="3840480" cy="201168"/>
          </a:xfrm>
          <a:prstGeom prst="rect">
            <a:avLst/>
          </a:prstGeom>
          <a:noFill/>
          <a:ln/>
        </p:spPr>
        <p:txBody>
          <a:bodyPr wrap="square" lIns="0" tIns="0" rIns="0" bIns="0" rtlCol="0" anchor="ctr"/>
          <a:lstStyle/>
          <a:p>
            <a:pPr algn="l" indent="0" marL="0">
              <a:buNone/>
            </a:pPr>
            <a:r>
              <a:rPr lang="en-US" sz="700" dirty="0">
                <a:solidFill>
                  <a:srgbClr val="5C6680"/>
                </a:solidFill>
                <a:latin typeface="Calibri" pitchFamily="34" charset="0"/>
                <a:ea typeface="Calibri" pitchFamily="34" charset="-122"/>
                <a:cs typeface="Calibri" pitchFamily="34" charset="-120"/>
              </a:rPr>
              <a:t>Apache License 2.0   ·   © 2026 The OneShot</a:t>
            </a:r>
            <a:endParaRPr lang="en-US" sz="700" dirty="0"/>
          </a:p>
        </p:txBody>
      </p:sp>
      <p:sp>
        <p:nvSpPr>
          <p:cNvPr id="5" name="Text 3"/>
          <p:cNvSpPr/>
          <p:nvPr/>
        </p:nvSpPr>
        <p:spPr>
          <a:xfrm>
            <a:off x="3657600" y="4846320"/>
            <a:ext cx="5212080" cy="274320"/>
          </a:xfrm>
          <a:prstGeom prst="rect">
            <a:avLst/>
          </a:prstGeom>
          <a:noFill/>
          <a:ln/>
        </p:spPr>
        <p:txBody>
          <a:bodyPr wrap="square" lIns="0" tIns="0" rIns="0" bIns="0" rtlCol="0" anchor="ctr"/>
          <a:lstStyle/>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Builders: Kiro, Codex   ·   Agent Helpers: Qwen, ChatGPT, Claude, Mistral</a:t>
            </a:r>
            <a:endParaRPr lang="en-US" sz="650" dirty="0"/>
          </a:p>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Garbage: Auto Pilot (GitHub)</a:t>
            </a:r>
            <a:endParaRPr lang="en-US" sz="650" dirty="0"/>
          </a:p>
        </p:txBody>
      </p:sp>
      <p:sp>
        <p:nvSpPr>
          <p:cNvPr id="6" name="Text 4"/>
          <p:cNvSpPr/>
          <p:nvPr/>
        </p:nvSpPr>
        <p:spPr>
          <a:xfrm>
            <a:off x="457200" y="548640"/>
            <a:ext cx="8229600" cy="502920"/>
          </a:xfrm>
          <a:prstGeom prst="rect">
            <a:avLst/>
          </a:prstGeom>
          <a:noFill/>
          <a:ln/>
        </p:spPr>
        <p:txBody>
          <a:bodyPr wrap="square" lIns="0" tIns="0" rIns="0" bIns="0" rtlCol="0" anchor="ctr"/>
          <a:lstStyle/>
          <a:p>
            <a:pPr indent="0" marL="0">
              <a:buNone/>
            </a:pPr>
            <a:r>
              <a:rPr lang="en-US" sz="2400" b="1" dirty="0">
                <a:solidFill>
                  <a:srgbClr val="E6EAF2"/>
                </a:solidFill>
                <a:latin typeface="Arial" pitchFamily="34" charset="0"/>
                <a:ea typeface="Arial" pitchFamily="34" charset="-122"/>
                <a:cs typeface="Arial" pitchFamily="34" charset="-120"/>
              </a:rPr>
              <a:t>Phase 3: The Information Completeness Threshold</a:t>
            </a:r>
            <a:endParaRPr lang="en-US" sz="2400" dirty="0"/>
          </a:p>
        </p:txBody>
      </p:sp>
      <p:sp>
        <p:nvSpPr>
          <p:cNvPr id="7" name="Text 5"/>
          <p:cNvSpPr/>
          <p:nvPr/>
        </p:nvSpPr>
        <p:spPr>
          <a:xfrm>
            <a:off x="548640" y="1078992"/>
            <a:ext cx="8046720" cy="365760"/>
          </a:xfrm>
          <a:prstGeom prst="rect">
            <a:avLst/>
          </a:prstGeom>
          <a:noFill/>
          <a:ln/>
        </p:spPr>
        <p:txBody>
          <a:bodyPr wrap="square" lIns="0" tIns="0" rIns="0" bIns="0" rtlCol="0" anchor="ctr"/>
          <a:lstStyle/>
          <a:p>
            <a:pPr algn="ctr" indent="0" marL="0">
              <a:buNone/>
            </a:pPr>
            <a:r>
              <a:rPr lang="en-US" sz="1250" dirty="0">
                <a:solidFill>
                  <a:srgbClr val="8B96AC"/>
                </a:solidFill>
                <a:latin typeface="Calibri" pitchFamily="34" charset="0"/>
                <a:ea typeface="Calibri" pitchFamily="34" charset="-122"/>
                <a:cs typeface="Calibri" pitchFamily="34" charset="-120"/>
              </a:rPr>
              <a:t>The Pre-Simulation phase evaluates whether the AI has enough information to succeed in one shot.</a:t>
            </a:r>
            <a:endParaRPr lang="en-US" sz="1250" dirty="0"/>
          </a:p>
        </p:txBody>
      </p:sp>
      <p:sp>
        <p:nvSpPr>
          <p:cNvPr id="8" name="Text 6"/>
          <p:cNvSpPr/>
          <p:nvPr/>
        </p:nvSpPr>
        <p:spPr>
          <a:xfrm>
            <a:off x="0" y="1417320"/>
            <a:ext cx="9144000" cy="868680"/>
          </a:xfrm>
          <a:prstGeom prst="rect">
            <a:avLst/>
          </a:prstGeom>
          <a:noFill/>
          <a:ln/>
        </p:spPr>
        <p:txBody>
          <a:bodyPr wrap="square" lIns="0" tIns="0" rIns="0" bIns="0" rtlCol="0" anchor="ctr"/>
          <a:lstStyle/>
          <a:p>
            <a:pPr algn="ctr" indent="0" marL="0">
              <a:buNone/>
            </a:pPr>
            <a:r>
              <a:rPr lang="en-US" sz="5600" b="1" dirty="0">
                <a:solidFill>
                  <a:srgbClr val="22D3EE"/>
                </a:solidFill>
                <a:latin typeface="Arial" pitchFamily="34" charset="0"/>
                <a:ea typeface="Arial" pitchFamily="34" charset="-122"/>
                <a:cs typeface="Arial" pitchFamily="34" charset="-120"/>
              </a:rPr>
              <a:t>93.91%</a:t>
            </a:r>
            <a:endParaRPr lang="en-US" sz="5600" dirty="0"/>
          </a:p>
        </p:txBody>
      </p:sp>
      <p:sp>
        <p:nvSpPr>
          <p:cNvPr id="9" name="Text 7"/>
          <p:cNvSpPr/>
          <p:nvPr/>
        </p:nvSpPr>
        <p:spPr>
          <a:xfrm>
            <a:off x="548640" y="2286000"/>
            <a:ext cx="8046720" cy="320040"/>
          </a:xfrm>
          <a:prstGeom prst="rect">
            <a:avLst/>
          </a:prstGeom>
          <a:noFill/>
          <a:ln/>
        </p:spPr>
        <p:txBody>
          <a:bodyPr wrap="square" lIns="0" tIns="0" rIns="0" bIns="0" rtlCol="0" anchor="ctr"/>
          <a:lstStyle/>
          <a:p>
            <a:pPr algn="ctr" indent="0" marL="0">
              <a:buNone/>
            </a:pPr>
            <a:r>
              <a:rPr lang="en-US" sz="1100" i="1" dirty="0">
                <a:solidFill>
                  <a:srgbClr val="8B96AC"/>
                </a:solidFill>
                <a:latin typeface="Calibri" pitchFamily="34" charset="0"/>
                <a:ea typeface="Calibri" pitchFamily="34" charset="-122"/>
                <a:cs typeface="Calibri" pitchFamily="34" charset="-120"/>
              </a:rPr>
              <a:t>Information Completeness Threshold  ·  Not a quality gate — an information completeness gate.</a:t>
            </a:r>
            <a:endParaRPr lang="en-US" sz="1100" dirty="0"/>
          </a:p>
        </p:txBody>
      </p:sp>
      <p:sp>
        <p:nvSpPr>
          <p:cNvPr id="10" name="Shape 8"/>
          <p:cNvSpPr/>
          <p:nvPr/>
        </p:nvSpPr>
        <p:spPr>
          <a:xfrm>
            <a:off x="548640" y="2743200"/>
            <a:ext cx="3749040" cy="777240"/>
          </a:xfrm>
          <a:prstGeom prst="roundRect">
            <a:avLst>
              <a:gd name="adj" fmla="val 9412"/>
            </a:avLst>
          </a:prstGeom>
          <a:solidFill>
            <a:srgbClr val="16223A"/>
          </a:solidFill>
          <a:ln/>
          <a:effectLst>
            <a:outerShdw sx="100000" sy="100000" kx="0" ky="0" algn="bl" rotWithShape="0" blurRad="101600" dist="38100" dir="5400000">
              <a:srgbClr val="000000">
                <a:alpha val="35000"/>
              </a:srgbClr>
            </a:outerShdw>
          </a:effectLst>
        </p:spPr>
      </p:sp>
      <p:pic>
        <p:nvPicPr>
          <p:cNvPr id="11" name="Image 0" descr="preencoded.png">    </p:cNvPr>
          <p:cNvPicPr>
            <a:picLocks noChangeAspect="1"/>
          </p:cNvPicPr>
          <p:nvPr/>
        </p:nvPicPr>
        <p:blipFill>
          <a:blip r:embed="rId1"/>
          <a:stretch>
            <a:fillRect/>
          </a:stretch>
        </p:blipFill>
        <p:spPr>
          <a:xfrm>
            <a:off x="777240" y="2926080"/>
            <a:ext cx="411480" cy="411480"/>
          </a:xfrm>
          <a:prstGeom prst="rect">
            <a:avLst/>
          </a:prstGeom>
        </p:spPr>
      </p:pic>
      <p:sp>
        <p:nvSpPr>
          <p:cNvPr id="12" name="Text 9"/>
          <p:cNvSpPr/>
          <p:nvPr/>
        </p:nvSpPr>
        <p:spPr>
          <a:xfrm>
            <a:off x="1280160" y="2743200"/>
            <a:ext cx="2926080" cy="777240"/>
          </a:xfrm>
          <a:prstGeom prst="rect">
            <a:avLst/>
          </a:prstGeom>
          <a:noFill/>
          <a:ln/>
        </p:spPr>
        <p:txBody>
          <a:bodyPr wrap="square" lIns="0" tIns="0" rIns="0" bIns="0" rtlCol="0" anchor="ctr"/>
          <a:lstStyle/>
          <a:p>
            <a:pPr indent="0" marL="0">
              <a:buNone/>
            </a:pPr>
            <a:r>
              <a:rPr lang="en-US" sz="1250" b="1" dirty="0">
                <a:solidFill>
                  <a:srgbClr val="E6EAF2"/>
                </a:solidFill>
                <a:latin typeface="Calibri" pitchFamily="34" charset="0"/>
                <a:ea typeface="Calibri" pitchFamily="34" charset="-122"/>
                <a:cs typeface="Calibri" pitchFamily="34" charset="-120"/>
              </a:rPr>
              <a:t>Score ≥ 93.91%  →  Proceed to Simulation</a:t>
            </a:r>
            <a:endParaRPr lang="en-US" sz="1250" dirty="0"/>
          </a:p>
        </p:txBody>
      </p:sp>
      <p:sp>
        <p:nvSpPr>
          <p:cNvPr id="13" name="Shape 10"/>
          <p:cNvSpPr/>
          <p:nvPr/>
        </p:nvSpPr>
        <p:spPr>
          <a:xfrm>
            <a:off x="4846320" y="2743200"/>
            <a:ext cx="3749040" cy="777240"/>
          </a:xfrm>
          <a:prstGeom prst="roundRect">
            <a:avLst>
              <a:gd name="adj" fmla="val 9412"/>
            </a:avLst>
          </a:prstGeom>
          <a:solidFill>
            <a:srgbClr val="16223A"/>
          </a:solidFill>
          <a:ln/>
          <a:effectLst>
            <a:outerShdw sx="100000" sy="100000" kx="0" ky="0" algn="bl" rotWithShape="0" blurRad="101600" dist="38100" dir="5400000">
              <a:srgbClr val="000000">
                <a:alpha val="35000"/>
              </a:srgbClr>
            </a:outerShdw>
          </a:effectLst>
        </p:spPr>
      </p:sp>
      <p:pic>
        <p:nvPicPr>
          <p:cNvPr id="14" name="Image 1" descr="preencoded.png">    </p:cNvPr>
          <p:cNvPicPr>
            <a:picLocks noChangeAspect="1"/>
          </p:cNvPicPr>
          <p:nvPr/>
        </p:nvPicPr>
        <p:blipFill>
          <a:blip r:embed="rId2"/>
          <a:stretch>
            <a:fillRect/>
          </a:stretch>
        </p:blipFill>
        <p:spPr>
          <a:xfrm>
            <a:off x="5074920" y="2926080"/>
            <a:ext cx="411480" cy="411480"/>
          </a:xfrm>
          <a:prstGeom prst="rect">
            <a:avLst/>
          </a:prstGeom>
        </p:spPr>
      </p:pic>
      <p:sp>
        <p:nvSpPr>
          <p:cNvPr id="15" name="Text 11"/>
          <p:cNvSpPr/>
          <p:nvPr/>
        </p:nvSpPr>
        <p:spPr>
          <a:xfrm>
            <a:off x="5577840" y="2743200"/>
            <a:ext cx="2926080" cy="777240"/>
          </a:xfrm>
          <a:prstGeom prst="rect">
            <a:avLst/>
          </a:prstGeom>
          <a:noFill/>
          <a:ln/>
        </p:spPr>
        <p:txBody>
          <a:bodyPr wrap="square" lIns="0" tIns="0" rIns="0" bIns="0" rtlCol="0" anchor="ctr"/>
          <a:lstStyle/>
          <a:p>
            <a:pPr indent="0" marL="0">
              <a:buNone/>
            </a:pPr>
            <a:r>
              <a:rPr lang="en-US" sz="1250" b="1" dirty="0">
                <a:solidFill>
                  <a:srgbClr val="E6EAF2"/>
                </a:solidFill>
                <a:latin typeface="Calibri" pitchFamily="34" charset="0"/>
                <a:ea typeface="Calibri" pitchFamily="34" charset="-122"/>
                <a:cs typeface="Calibri" pitchFamily="34" charset="-120"/>
              </a:rPr>
              <a:t>Score &lt; 93.91%  →  Branch to Isolation</a:t>
            </a:r>
            <a:endParaRPr lang="en-US" sz="1250" dirty="0"/>
          </a:p>
        </p:txBody>
      </p:sp>
      <p:sp>
        <p:nvSpPr>
          <p:cNvPr id="16" name="Shape 12"/>
          <p:cNvSpPr/>
          <p:nvPr/>
        </p:nvSpPr>
        <p:spPr>
          <a:xfrm>
            <a:off x="548640" y="3703320"/>
            <a:ext cx="8046720" cy="822960"/>
          </a:xfrm>
          <a:prstGeom prst="roundRect">
            <a:avLst>
              <a:gd name="adj" fmla="val 8889"/>
            </a:avLst>
          </a:prstGeom>
          <a:solidFill>
            <a:srgbClr val="121C30"/>
          </a:solidFill>
          <a:ln/>
          <a:effectLst>
            <a:outerShdw sx="100000" sy="100000" kx="0" ky="0" algn="bl" rotWithShape="0" blurRad="101600" dist="38100" dir="5400000">
              <a:srgbClr val="000000">
                <a:alpha val="35000"/>
              </a:srgbClr>
            </a:outerShdw>
          </a:effectLst>
        </p:spPr>
      </p:sp>
      <p:sp>
        <p:nvSpPr>
          <p:cNvPr id="17" name="Text 13"/>
          <p:cNvSpPr/>
          <p:nvPr/>
        </p:nvSpPr>
        <p:spPr>
          <a:xfrm>
            <a:off x="777240" y="3703320"/>
            <a:ext cx="7589520" cy="822960"/>
          </a:xfrm>
          <a:prstGeom prst="rect">
            <a:avLst/>
          </a:prstGeom>
          <a:noFill/>
          <a:ln/>
        </p:spPr>
        <p:txBody>
          <a:bodyPr wrap="square" lIns="0" tIns="0" rIns="0" bIns="0" rtlCol="0" anchor="ctr"/>
          <a:lstStyle/>
          <a:p>
            <a:pPr indent="0" marL="0">
              <a:buNone/>
            </a:pPr>
            <a:r>
              <a:rPr lang="en-US" sz="1100" b="1" dirty="0">
                <a:solidFill>
                  <a:srgbClr val="34D399"/>
                </a:solidFill>
                <a:latin typeface="Calibri" pitchFamily="34" charset="0"/>
                <a:ea typeface="Calibri" pitchFamily="34" charset="-122"/>
                <a:cs typeface="Calibri" pitchFamily="34" charset="-120"/>
              </a:rPr>
              <a:t>Isolation is Not Failure:  </a:t>
            </a:r>
            <a:pPr indent="0" marL="0">
              <a:buNone/>
            </a:pPr>
            <a:r>
              <a:rPr lang="en-US" sz="1100" dirty="0">
                <a:solidFill>
                  <a:srgbClr val="8B96AC"/>
                </a:solidFill>
                <a:latin typeface="Calibri" pitchFamily="34" charset="0"/>
                <a:ea typeface="Calibri" pitchFamily="34" charset="-122"/>
                <a:cs typeface="Calibri" pitchFamily="34" charset="-120"/>
              </a:rPr>
              <a:t>Good parts continue forward. Isolated items get targeted research from AI agents, then the loop restarts with new information. The pipeline never stops — nothing waits.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274320" y="128016"/>
            <a:ext cx="146304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Arial" pitchFamily="34" charset="0"/>
                <a:ea typeface="Arial" pitchFamily="34" charset="-122"/>
                <a:cs typeface="Arial" pitchFamily="34" charset="-120"/>
              </a:rPr>
              <a:t>UiPath</a:t>
            </a:r>
            <a:endParaRPr lang="en-US" sz="1100" dirty="0"/>
          </a:p>
        </p:txBody>
      </p:sp>
      <p:sp>
        <p:nvSpPr>
          <p:cNvPr id="3" name="Text 1"/>
          <p:cNvSpPr/>
          <p:nvPr/>
        </p:nvSpPr>
        <p:spPr>
          <a:xfrm>
            <a:off x="5212080" y="91440"/>
            <a:ext cx="3657600" cy="411480"/>
          </a:xfrm>
          <a:prstGeom prst="rect">
            <a:avLst/>
          </a:prstGeom>
          <a:noFill/>
          <a:ln/>
        </p:spPr>
        <p:txBody>
          <a:bodyPr wrap="square" lIns="0" tIns="0" rIns="0" bIns="0" rtlCol="0" anchor="ctr"/>
          <a:lstStyle/>
          <a:p>
            <a:pPr algn="r" indent="0" marL="0">
              <a:lnSpc>
                <a:spcPct val="110000"/>
              </a:lnSpc>
              <a:buNone/>
            </a:pPr>
            <a:r>
              <a:rPr lang="en-US" sz="750" b="1" dirty="0">
                <a:solidFill>
                  <a:srgbClr val="22D3EE"/>
                </a:solidFill>
                <a:latin typeface="Calibri" pitchFamily="34" charset="0"/>
                <a:ea typeface="Calibri" pitchFamily="34" charset="-122"/>
                <a:cs typeface="Calibri" pitchFamily="34" charset="-120"/>
              </a:rPr>
              <a:t>UiPath AgentHack</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Track 2 — Maestro Orchestrator</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Team: The OneShot  ·  Author: Minh Le</a:t>
            </a:r>
            <a:endParaRPr lang="en-US" sz="750" dirty="0"/>
          </a:p>
        </p:txBody>
      </p:sp>
      <p:sp>
        <p:nvSpPr>
          <p:cNvPr id="4" name="Text 2"/>
          <p:cNvSpPr/>
          <p:nvPr/>
        </p:nvSpPr>
        <p:spPr>
          <a:xfrm>
            <a:off x="274320" y="4882896"/>
            <a:ext cx="3840480" cy="201168"/>
          </a:xfrm>
          <a:prstGeom prst="rect">
            <a:avLst/>
          </a:prstGeom>
          <a:noFill/>
          <a:ln/>
        </p:spPr>
        <p:txBody>
          <a:bodyPr wrap="square" lIns="0" tIns="0" rIns="0" bIns="0" rtlCol="0" anchor="ctr"/>
          <a:lstStyle/>
          <a:p>
            <a:pPr algn="l" indent="0" marL="0">
              <a:buNone/>
            </a:pPr>
            <a:r>
              <a:rPr lang="en-US" sz="700" dirty="0">
                <a:solidFill>
                  <a:srgbClr val="5C6680"/>
                </a:solidFill>
                <a:latin typeface="Calibri" pitchFamily="34" charset="0"/>
                <a:ea typeface="Calibri" pitchFamily="34" charset="-122"/>
                <a:cs typeface="Calibri" pitchFamily="34" charset="-120"/>
              </a:rPr>
              <a:t>Apache License 2.0   ·   © 2026 The OneShot</a:t>
            </a:r>
            <a:endParaRPr lang="en-US" sz="700" dirty="0"/>
          </a:p>
        </p:txBody>
      </p:sp>
      <p:sp>
        <p:nvSpPr>
          <p:cNvPr id="5" name="Text 3"/>
          <p:cNvSpPr/>
          <p:nvPr/>
        </p:nvSpPr>
        <p:spPr>
          <a:xfrm>
            <a:off x="3657600" y="4846320"/>
            <a:ext cx="5212080" cy="274320"/>
          </a:xfrm>
          <a:prstGeom prst="rect">
            <a:avLst/>
          </a:prstGeom>
          <a:noFill/>
          <a:ln/>
        </p:spPr>
        <p:txBody>
          <a:bodyPr wrap="square" lIns="0" tIns="0" rIns="0" bIns="0" rtlCol="0" anchor="ctr"/>
          <a:lstStyle/>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Builders: Kiro, Codex   ·   Agent Helpers: Qwen, ChatGPT, Claude, Mistral</a:t>
            </a:r>
            <a:endParaRPr lang="en-US" sz="650" dirty="0"/>
          </a:p>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Garbage: Auto Pilot (GitHub)</a:t>
            </a:r>
            <a:endParaRPr lang="en-US" sz="650" dirty="0"/>
          </a:p>
        </p:txBody>
      </p:sp>
      <p:sp>
        <p:nvSpPr>
          <p:cNvPr id="6" name="Text 4"/>
          <p:cNvSpPr/>
          <p:nvPr/>
        </p:nvSpPr>
        <p:spPr>
          <a:xfrm>
            <a:off x="457200" y="548640"/>
            <a:ext cx="8229600" cy="502920"/>
          </a:xfrm>
          <a:prstGeom prst="rect">
            <a:avLst/>
          </a:prstGeom>
          <a:noFill/>
          <a:ln/>
        </p:spPr>
        <p:txBody>
          <a:bodyPr wrap="square" lIns="0" tIns="0" rIns="0" bIns="0" rtlCol="0" anchor="ctr"/>
          <a:lstStyle/>
          <a:p>
            <a:pPr indent="0" marL="0">
              <a:buNone/>
            </a:pPr>
            <a:r>
              <a:rPr lang="en-US" sz="2500" b="1" dirty="0">
                <a:solidFill>
                  <a:srgbClr val="E6EAF2"/>
                </a:solidFill>
                <a:latin typeface="Arial" pitchFamily="34" charset="0"/>
                <a:ea typeface="Arial" pitchFamily="34" charset="-122"/>
                <a:cs typeface="Arial" pitchFamily="34" charset="-120"/>
              </a:rPr>
              <a:t>Phases 4–5: Simulate, Then Verify</a:t>
            </a:r>
            <a:endParaRPr lang="en-US" sz="2500" dirty="0"/>
          </a:p>
        </p:txBody>
      </p:sp>
      <p:sp>
        <p:nvSpPr>
          <p:cNvPr id="7" name="Shape 5"/>
          <p:cNvSpPr/>
          <p:nvPr/>
        </p:nvSpPr>
        <p:spPr>
          <a:xfrm>
            <a:off x="457200" y="1234440"/>
            <a:ext cx="3931920" cy="2423160"/>
          </a:xfrm>
          <a:prstGeom prst="roundRect">
            <a:avLst>
              <a:gd name="adj" fmla="val 3019"/>
            </a:avLst>
          </a:prstGeom>
          <a:solidFill>
            <a:srgbClr val="121C30"/>
          </a:solidFill>
          <a:ln/>
          <a:effectLst>
            <a:outerShdw sx="100000" sy="100000" kx="0" ky="0" algn="bl" rotWithShape="0" blurRad="101600" dist="38100" dir="5400000">
              <a:srgbClr val="000000">
                <a:alpha val="35000"/>
              </a:srgbClr>
            </a:outerShdw>
          </a:effectLst>
        </p:spPr>
      </p:sp>
      <p:sp>
        <p:nvSpPr>
          <p:cNvPr id="8" name="Shape 6"/>
          <p:cNvSpPr/>
          <p:nvPr/>
        </p:nvSpPr>
        <p:spPr>
          <a:xfrm>
            <a:off x="731520" y="1508760"/>
            <a:ext cx="502920" cy="502920"/>
          </a:xfrm>
          <a:prstGeom prst="ellipse">
            <a:avLst/>
          </a:prstGeom>
          <a:solidFill>
            <a:srgbClr val="22D3EE"/>
          </a:solidFill>
          <a:ln/>
        </p:spPr>
      </p:sp>
      <p:pic>
        <p:nvPicPr>
          <p:cNvPr id="9" name="Image 0" descr="preencoded.png">    </p:cNvPr>
          <p:cNvPicPr>
            <a:picLocks noChangeAspect="1"/>
          </p:cNvPicPr>
          <p:nvPr/>
        </p:nvPicPr>
        <p:blipFill>
          <a:blip r:embed="rId1"/>
          <a:stretch>
            <a:fillRect/>
          </a:stretch>
        </p:blipFill>
        <p:spPr>
          <a:xfrm>
            <a:off x="862279" y="1639519"/>
            <a:ext cx="241402" cy="241402"/>
          </a:xfrm>
          <a:prstGeom prst="rect">
            <a:avLst/>
          </a:prstGeom>
        </p:spPr>
      </p:pic>
      <p:sp>
        <p:nvSpPr>
          <p:cNvPr id="10" name="Text 7"/>
          <p:cNvSpPr/>
          <p:nvPr/>
        </p:nvSpPr>
        <p:spPr>
          <a:xfrm>
            <a:off x="1371600" y="1508760"/>
            <a:ext cx="2834640" cy="502920"/>
          </a:xfrm>
          <a:prstGeom prst="rect">
            <a:avLst/>
          </a:prstGeom>
          <a:noFill/>
          <a:ln/>
        </p:spPr>
        <p:txBody>
          <a:bodyPr wrap="square" lIns="0" tIns="0" rIns="0" bIns="0" rtlCol="0" anchor="ctr"/>
          <a:lstStyle/>
          <a:p>
            <a:pPr indent="0" marL="0">
              <a:buNone/>
            </a:pPr>
            <a:r>
              <a:rPr lang="en-US" sz="1500" b="1" dirty="0">
                <a:solidFill>
                  <a:srgbClr val="E6EAF2"/>
                </a:solidFill>
                <a:latin typeface="Arial" pitchFamily="34" charset="0"/>
                <a:ea typeface="Arial" pitchFamily="34" charset="-122"/>
                <a:cs typeface="Arial" pitchFamily="34" charset="-120"/>
              </a:rPr>
              <a:t>Simulation Phase</a:t>
            </a:r>
            <a:endParaRPr lang="en-US" sz="1500" dirty="0"/>
          </a:p>
        </p:txBody>
      </p:sp>
      <p:sp>
        <p:nvSpPr>
          <p:cNvPr id="11" name="Text 8"/>
          <p:cNvSpPr/>
          <p:nvPr/>
        </p:nvSpPr>
        <p:spPr>
          <a:xfrm>
            <a:off x="731520" y="2148840"/>
            <a:ext cx="3383280" cy="132588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All mutations happen on a candidate copy, not your real project</a:t>
            </a:r>
            <a:endParaRPr lang="en-US" sz="1100" dirty="0"/>
          </a:p>
          <a:p>
            <a:pPr marL="342900" indent="-342900">
              <a:lnSpc>
                <a:spcPct val="110000"/>
              </a:lnSpc>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If something goes wrong, nothing is lost</a:t>
            </a:r>
            <a:endParaRPr lang="en-US" sz="1100" dirty="0"/>
          </a:p>
          <a:p>
            <a:pPr marL="342900" indent="-342900">
              <a:lnSpc>
                <a:spcPct val="110000"/>
              </a:lnSpc>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Failure is cheap here — you can retry</a:t>
            </a:r>
            <a:endParaRPr lang="en-US" sz="1100" dirty="0"/>
          </a:p>
          <a:p>
            <a:pPr marL="342900" indent="-342900">
              <a:lnSpc>
                <a:spcPct val="110000"/>
              </a:lnSpc>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Success means mutations are ready for inspection</a:t>
            </a:r>
            <a:endParaRPr lang="en-US" sz="1100" dirty="0"/>
          </a:p>
        </p:txBody>
      </p:sp>
      <p:sp>
        <p:nvSpPr>
          <p:cNvPr id="12" name="Shape 9"/>
          <p:cNvSpPr/>
          <p:nvPr/>
        </p:nvSpPr>
        <p:spPr>
          <a:xfrm>
            <a:off x="4663440" y="1234440"/>
            <a:ext cx="3931920" cy="2423160"/>
          </a:xfrm>
          <a:prstGeom prst="roundRect">
            <a:avLst>
              <a:gd name="adj" fmla="val 3019"/>
            </a:avLst>
          </a:prstGeom>
          <a:solidFill>
            <a:srgbClr val="121C30"/>
          </a:solidFill>
          <a:ln/>
          <a:effectLst>
            <a:outerShdw sx="100000" sy="100000" kx="0" ky="0" algn="bl" rotWithShape="0" blurRad="101600" dist="38100" dir="5400000">
              <a:srgbClr val="000000">
                <a:alpha val="35000"/>
              </a:srgbClr>
            </a:outerShdw>
          </a:effectLst>
        </p:spPr>
      </p:sp>
      <p:sp>
        <p:nvSpPr>
          <p:cNvPr id="13" name="Shape 10"/>
          <p:cNvSpPr/>
          <p:nvPr/>
        </p:nvSpPr>
        <p:spPr>
          <a:xfrm>
            <a:off x="4937760" y="1508760"/>
            <a:ext cx="502920" cy="502920"/>
          </a:xfrm>
          <a:prstGeom prst="ellipse">
            <a:avLst/>
          </a:prstGeom>
          <a:solidFill>
            <a:srgbClr val="22D3EE"/>
          </a:solidFill>
          <a:ln/>
        </p:spPr>
      </p:sp>
      <p:pic>
        <p:nvPicPr>
          <p:cNvPr id="14" name="Image 1" descr="preencoded.png">    </p:cNvPr>
          <p:cNvPicPr>
            <a:picLocks noChangeAspect="1"/>
          </p:cNvPicPr>
          <p:nvPr/>
        </p:nvPicPr>
        <p:blipFill>
          <a:blip r:embed="rId2"/>
          <a:stretch>
            <a:fillRect/>
          </a:stretch>
        </p:blipFill>
        <p:spPr>
          <a:xfrm>
            <a:off x="5068519" y="1639519"/>
            <a:ext cx="241402" cy="241402"/>
          </a:xfrm>
          <a:prstGeom prst="rect">
            <a:avLst/>
          </a:prstGeom>
        </p:spPr>
      </p:pic>
      <p:sp>
        <p:nvSpPr>
          <p:cNvPr id="15" name="Text 11"/>
          <p:cNvSpPr/>
          <p:nvPr/>
        </p:nvSpPr>
        <p:spPr>
          <a:xfrm>
            <a:off x="5577840" y="1508760"/>
            <a:ext cx="2834640" cy="502920"/>
          </a:xfrm>
          <a:prstGeom prst="rect">
            <a:avLst/>
          </a:prstGeom>
          <a:noFill/>
          <a:ln/>
        </p:spPr>
        <p:txBody>
          <a:bodyPr wrap="square" lIns="0" tIns="0" rIns="0" bIns="0" rtlCol="0" anchor="ctr"/>
          <a:lstStyle/>
          <a:p>
            <a:pPr indent="0" marL="0">
              <a:buNone/>
            </a:pPr>
            <a:r>
              <a:rPr lang="en-US" sz="1500" b="1" dirty="0">
                <a:solidFill>
                  <a:srgbClr val="E6EAF2"/>
                </a:solidFill>
                <a:latin typeface="Arial" pitchFamily="34" charset="0"/>
                <a:ea typeface="Arial" pitchFamily="34" charset="-122"/>
                <a:cs typeface="Arial" pitchFamily="34" charset="-120"/>
              </a:rPr>
              <a:t>Inspection Phase</a:t>
            </a:r>
            <a:endParaRPr lang="en-US" sz="1500" dirty="0"/>
          </a:p>
        </p:txBody>
      </p:sp>
      <p:sp>
        <p:nvSpPr>
          <p:cNvPr id="16" name="Text 12"/>
          <p:cNvSpPr/>
          <p:nvPr/>
        </p:nvSpPr>
        <p:spPr>
          <a:xfrm>
            <a:off x="4937760" y="2148840"/>
            <a:ext cx="3383280" cy="132588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Validates candidate integrity</a:t>
            </a:r>
            <a:endParaRPr lang="en-US" sz="1100" dirty="0"/>
          </a:p>
          <a:p>
            <a:pPr marL="342900" indent="-342900">
              <a:lnSpc>
                <a:spcPct val="110000"/>
              </a:lnSpc>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Hashes everything for deterministic verification</a:t>
            </a:r>
            <a:endParaRPr lang="en-US" sz="1100" dirty="0"/>
          </a:p>
          <a:p>
            <a:pPr marL="342900" indent="-342900">
              <a:lnSpc>
                <a:spcPct val="110000"/>
              </a:lnSpc>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Compares original snapshot hash with inspection hash</a:t>
            </a:r>
            <a:endParaRPr lang="en-US" sz="1100" dirty="0"/>
          </a:p>
          <a:p>
            <a:pPr marL="342900" indent="-342900">
              <a:lnSpc>
                <a:spcPct val="110000"/>
              </a:lnSpc>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Prepares complete before/after diff — convergence point for all paths</a:t>
            </a:r>
            <a:endParaRPr lang="en-US" sz="1100" dirty="0"/>
          </a:p>
        </p:txBody>
      </p:sp>
      <p:sp>
        <p:nvSpPr>
          <p:cNvPr id="17" name="Shape 13"/>
          <p:cNvSpPr/>
          <p:nvPr/>
        </p:nvSpPr>
        <p:spPr>
          <a:xfrm>
            <a:off x="457200" y="3822192"/>
            <a:ext cx="8229600" cy="777240"/>
          </a:xfrm>
          <a:prstGeom prst="roundRect">
            <a:avLst>
              <a:gd name="adj" fmla="val 9412"/>
            </a:avLst>
          </a:prstGeom>
          <a:solidFill>
            <a:srgbClr val="16223A"/>
          </a:solidFill>
          <a:ln/>
          <a:effectLst>
            <a:outerShdw sx="100000" sy="100000" kx="0" ky="0" algn="bl" rotWithShape="0" blurRad="101600" dist="38100" dir="5400000">
              <a:srgbClr val="000000">
                <a:alpha val="35000"/>
              </a:srgbClr>
            </a:outerShdw>
          </a:effectLst>
        </p:spPr>
      </p:sp>
      <p:sp>
        <p:nvSpPr>
          <p:cNvPr id="18" name="Text 14"/>
          <p:cNvSpPr/>
          <p:nvPr/>
        </p:nvSpPr>
        <p:spPr>
          <a:xfrm>
            <a:off x="685800" y="3822192"/>
            <a:ext cx="7772400" cy="777240"/>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Why This Matters:  </a:t>
            </a:r>
            <a:pPr indent="0" marL="0">
              <a:buNone/>
            </a:pPr>
            <a:r>
              <a:rPr lang="en-US" sz="1150" dirty="0">
                <a:solidFill>
                  <a:srgbClr val="E6EAF2"/>
                </a:solidFill>
                <a:latin typeface="Calibri" pitchFamily="34" charset="0"/>
                <a:ea typeface="Calibri" pitchFamily="34" charset="-122"/>
                <a:cs typeface="Calibri" pitchFamily="34" charset="-120"/>
              </a:rPr>
              <a:t>You see the result before you apply it. Inspect the diff, run tests, verify safety. Only when you click “Apply” do changes go to your real project.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274320" y="128016"/>
            <a:ext cx="146304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Arial" pitchFamily="34" charset="0"/>
                <a:ea typeface="Arial" pitchFamily="34" charset="-122"/>
                <a:cs typeface="Arial" pitchFamily="34" charset="-120"/>
              </a:rPr>
              <a:t>UiPath</a:t>
            </a:r>
            <a:endParaRPr lang="en-US" sz="1100" dirty="0"/>
          </a:p>
        </p:txBody>
      </p:sp>
      <p:sp>
        <p:nvSpPr>
          <p:cNvPr id="3" name="Text 1"/>
          <p:cNvSpPr/>
          <p:nvPr/>
        </p:nvSpPr>
        <p:spPr>
          <a:xfrm>
            <a:off x="5212080" y="91440"/>
            <a:ext cx="3657600" cy="411480"/>
          </a:xfrm>
          <a:prstGeom prst="rect">
            <a:avLst/>
          </a:prstGeom>
          <a:noFill/>
          <a:ln/>
        </p:spPr>
        <p:txBody>
          <a:bodyPr wrap="square" lIns="0" tIns="0" rIns="0" bIns="0" rtlCol="0" anchor="ctr"/>
          <a:lstStyle/>
          <a:p>
            <a:pPr algn="r" indent="0" marL="0">
              <a:lnSpc>
                <a:spcPct val="110000"/>
              </a:lnSpc>
              <a:buNone/>
            </a:pPr>
            <a:r>
              <a:rPr lang="en-US" sz="750" b="1" dirty="0">
                <a:solidFill>
                  <a:srgbClr val="22D3EE"/>
                </a:solidFill>
                <a:latin typeface="Calibri" pitchFamily="34" charset="0"/>
                <a:ea typeface="Calibri" pitchFamily="34" charset="-122"/>
                <a:cs typeface="Calibri" pitchFamily="34" charset="-120"/>
              </a:rPr>
              <a:t>UiPath AgentHack</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Track 2 — Maestro Orchestrator</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Team: The OneShot  ·  Author: Minh Le</a:t>
            </a:r>
            <a:endParaRPr lang="en-US" sz="750" dirty="0"/>
          </a:p>
        </p:txBody>
      </p:sp>
      <p:sp>
        <p:nvSpPr>
          <p:cNvPr id="4" name="Text 2"/>
          <p:cNvSpPr/>
          <p:nvPr/>
        </p:nvSpPr>
        <p:spPr>
          <a:xfrm>
            <a:off x="274320" y="4882896"/>
            <a:ext cx="3840480" cy="201168"/>
          </a:xfrm>
          <a:prstGeom prst="rect">
            <a:avLst/>
          </a:prstGeom>
          <a:noFill/>
          <a:ln/>
        </p:spPr>
        <p:txBody>
          <a:bodyPr wrap="square" lIns="0" tIns="0" rIns="0" bIns="0" rtlCol="0" anchor="ctr"/>
          <a:lstStyle/>
          <a:p>
            <a:pPr algn="l" indent="0" marL="0">
              <a:buNone/>
            </a:pPr>
            <a:r>
              <a:rPr lang="en-US" sz="700" dirty="0">
                <a:solidFill>
                  <a:srgbClr val="5C6680"/>
                </a:solidFill>
                <a:latin typeface="Calibri" pitchFamily="34" charset="0"/>
                <a:ea typeface="Calibri" pitchFamily="34" charset="-122"/>
                <a:cs typeface="Calibri" pitchFamily="34" charset="-120"/>
              </a:rPr>
              <a:t>Apache License 2.0   ·   © 2026 The OneShot</a:t>
            </a:r>
            <a:endParaRPr lang="en-US" sz="700" dirty="0"/>
          </a:p>
        </p:txBody>
      </p:sp>
      <p:sp>
        <p:nvSpPr>
          <p:cNvPr id="5" name="Text 3"/>
          <p:cNvSpPr/>
          <p:nvPr/>
        </p:nvSpPr>
        <p:spPr>
          <a:xfrm>
            <a:off x="3657600" y="4846320"/>
            <a:ext cx="5212080" cy="274320"/>
          </a:xfrm>
          <a:prstGeom prst="rect">
            <a:avLst/>
          </a:prstGeom>
          <a:noFill/>
          <a:ln/>
        </p:spPr>
        <p:txBody>
          <a:bodyPr wrap="square" lIns="0" tIns="0" rIns="0" bIns="0" rtlCol="0" anchor="ctr"/>
          <a:lstStyle/>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Builders: Kiro, Codex   ·   Agent Helpers: Qwen, ChatGPT, Claude, Mistral</a:t>
            </a:r>
            <a:endParaRPr lang="en-US" sz="650" dirty="0"/>
          </a:p>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Garbage: Auto Pilot (GitHub)</a:t>
            </a:r>
            <a:endParaRPr lang="en-US" sz="650" dirty="0"/>
          </a:p>
        </p:txBody>
      </p:sp>
      <p:sp>
        <p:nvSpPr>
          <p:cNvPr id="6" name="Text 4"/>
          <p:cNvSpPr/>
          <p:nvPr/>
        </p:nvSpPr>
        <p:spPr>
          <a:xfrm>
            <a:off x="457200" y="548640"/>
            <a:ext cx="8229600" cy="502920"/>
          </a:xfrm>
          <a:prstGeom prst="rect">
            <a:avLst/>
          </a:prstGeom>
          <a:noFill/>
          <a:ln/>
        </p:spPr>
        <p:txBody>
          <a:bodyPr wrap="square" lIns="0" tIns="0" rIns="0" bIns="0" rtlCol="0" anchor="ctr"/>
          <a:lstStyle/>
          <a:p>
            <a:pPr indent="0" marL="0">
              <a:buNone/>
            </a:pPr>
            <a:r>
              <a:rPr lang="en-US" sz="2400" b="1" dirty="0">
                <a:solidFill>
                  <a:srgbClr val="E6EAF2"/>
                </a:solidFill>
                <a:latin typeface="Arial" pitchFamily="34" charset="0"/>
                <a:ea typeface="Arial" pitchFamily="34" charset="-122"/>
                <a:cs typeface="Arial" pitchFamily="34" charset="-120"/>
              </a:rPr>
              <a:t>Phase 6: Complete Transparency, Then You Decide</a:t>
            </a:r>
            <a:endParaRPr lang="en-US" sz="2400" dirty="0"/>
          </a:p>
        </p:txBody>
      </p:sp>
      <p:sp>
        <p:nvSpPr>
          <p:cNvPr id="7" name="Shape 5"/>
          <p:cNvSpPr/>
          <p:nvPr/>
        </p:nvSpPr>
        <p:spPr>
          <a:xfrm>
            <a:off x="457200" y="1188720"/>
            <a:ext cx="5029200" cy="2743200"/>
          </a:xfrm>
          <a:prstGeom prst="roundRect">
            <a:avLst>
              <a:gd name="adj" fmla="val 2667"/>
            </a:avLst>
          </a:prstGeom>
          <a:solidFill>
            <a:srgbClr val="121C30"/>
          </a:solidFill>
          <a:ln/>
          <a:effectLst>
            <a:outerShdw sx="100000" sy="100000" kx="0" ky="0" algn="bl" rotWithShape="0" blurRad="101600" dist="38100" dir="5400000">
              <a:srgbClr val="000000">
                <a:alpha val="35000"/>
              </a:srgbClr>
            </a:outerShdw>
          </a:effectLst>
        </p:spPr>
      </p:sp>
      <p:sp>
        <p:nvSpPr>
          <p:cNvPr id="8" name="Text 6"/>
          <p:cNvSpPr/>
          <p:nvPr/>
        </p:nvSpPr>
        <p:spPr>
          <a:xfrm>
            <a:off x="685800" y="1325880"/>
            <a:ext cx="4572000" cy="365760"/>
          </a:xfrm>
          <a:prstGeom prst="rect">
            <a:avLst/>
          </a:prstGeom>
          <a:noFill/>
          <a:ln/>
        </p:spPr>
        <p:txBody>
          <a:bodyPr wrap="square" lIns="0" tIns="0" rIns="0" bIns="0" rtlCol="0" anchor="ctr"/>
          <a:lstStyle/>
          <a:p>
            <a:pPr indent="0" marL="0">
              <a:buNone/>
            </a:pPr>
            <a:r>
              <a:rPr lang="en-US" sz="1400" b="1" dirty="0">
                <a:solidFill>
                  <a:srgbClr val="7DE8F7"/>
                </a:solidFill>
                <a:latin typeface="Arial" pitchFamily="34" charset="0"/>
                <a:ea typeface="Arial" pitchFamily="34" charset="-122"/>
                <a:cs typeface="Arial" pitchFamily="34" charset="-120"/>
              </a:rPr>
              <a:t>What You See at Relay</a:t>
            </a:r>
            <a:endParaRPr lang="en-US" sz="1400" dirty="0"/>
          </a:p>
        </p:txBody>
      </p:sp>
      <p:sp>
        <p:nvSpPr>
          <p:cNvPr id="9" name="Text 7"/>
          <p:cNvSpPr/>
          <p:nvPr/>
        </p:nvSpPr>
        <p:spPr>
          <a:xfrm>
            <a:off x="685800" y="1737360"/>
            <a:ext cx="4572000" cy="210312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Resolved items with full explanation</a:t>
            </a:r>
            <a:endParaRPr lang="en-US" sz="1150" dirty="0"/>
          </a:p>
          <a:p>
            <a:pPr marL="342900" indent="-342900">
              <a:lnSpc>
                <a:spcPct val="120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Unresolved items with exact reasons why</a:t>
            </a:r>
            <a:endParaRPr lang="en-US" sz="1150" dirty="0"/>
          </a:p>
          <a:p>
            <a:pPr marL="342900" indent="-342900">
              <a:lnSpc>
                <a:spcPct val="120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Complete before/after diff</a:t>
            </a:r>
            <a:endParaRPr lang="en-US" sz="1150" dirty="0"/>
          </a:p>
          <a:p>
            <a:pPr marL="342900" indent="-342900">
              <a:lnSpc>
                <a:spcPct val="120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Hash verification confirming deterministic output</a:t>
            </a:r>
            <a:endParaRPr lang="en-US" sz="1150" dirty="0"/>
          </a:p>
          <a:p>
            <a:pPr marL="342900" indent="-342900">
              <a:lnSpc>
                <a:spcPct val="120000"/>
              </a:lnSpc>
              <a:spcAft>
                <a:spcPts val="800"/>
              </a:spcAft>
              <a:buSzPct val="100000"/>
              <a:buChar char="•"/>
            </a:pPr>
            <a:r>
              <a:rPr lang="en-US" sz="1150" dirty="0">
                <a:solidFill>
                  <a:srgbClr val="8B96AC"/>
                </a:solidFill>
                <a:latin typeface="Calibri" pitchFamily="34" charset="0"/>
                <a:ea typeface="Calibri" pitchFamily="34" charset="-122"/>
                <a:cs typeface="Calibri" pitchFamily="34" charset="-120"/>
              </a:rPr>
              <a:t>Full documentation for every path</a:t>
            </a:r>
            <a:endParaRPr lang="en-US" sz="1150" dirty="0"/>
          </a:p>
        </p:txBody>
      </p:sp>
      <p:sp>
        <p:nvSpPr>
          <p:cNvPr id="10" name="Shape 8"/>
          <p:cNvSpPr/>
          <p:nvPr/>
        </p:nvSpPr>
        <p:spPr>
          <a:xfrm>
            <a:off x="5760720" y="1188720"/>
            <a:ext cx="2880360" cy="685800"/>
          </a:xfrm>
          <a:prstGeom prst="roundRect">
            <a:avLst>
              <a:gd name="adj" fmla="val 13333"/>
            </a:avLst>
          </a:prstGeom>
          <a:solidFill>
            <a:srgbClr val="22D3EE"/>
          </a:solidFill>
          <a:ln/>
        </p:spPr>
      </p:sp>
      <p:sp>
        <p:nvSpPr>
          <p:cNvPr id="11" name="Text 9"/>
          <p:cNvSpPr/>
          <p:nvPr/>
        </p:nvSpPr>
        <p:spPr>
          <a:xfrm>
            <a:off x="5760720" y="1188720"/>
            <a:ext cx="2880360" cy="685800"/>
          </a:xfrm>
          <a:prstGeom prst="rect">
            <a:avLst/>
          </a:prstGeom>
          <a:noFill/>
          <a:ln/>
        </p:spPr>
        <p:txBody>
          <a:bodyPr wrap="square" lIns="0" tIns="0" rIns="0" bIns="0" rtlCol="0" anchor="ctr"/>
          <a:lstStyle/>
          <a:p>
            <a:pPr algn="ctr" indent="0" marL="0">
              <a:buNone/>
            </a:pPr>
            <a:r>
              <a:rPr lang="en-US" sz="1150" b="1" dirty="0">
                <a:solidFill>
                  <a:srgbClr val="0B1220"/>
                </a:solidFill>
                <a:latin typeface="Arial" pitchFamily="34" charset="0"/>
                <a:ea typeface="Arial" pitchFamily="34" charset="-122"/>
                <a:cs typeface="Arial" pitchFamily="34" charset="-120"/>
              </a:rPr>
              <a:t>Apply → Release to real project</a:t>
            </a:r>
            <a:endParaRPr lang="en-US" sz="1150" dirty="0"/>
          </a:p>
        </p:txBody>
      </p:sp>
      <p:sp>
        <p:nvSpPr>
          <p:cNvPr id="12" name="Shape 10"/>
          <p:cNvSpPr/>
          <p:nvPr/>
        </p:nvSpPr>
        <p:spPr>
          <a:xfrm>
            <a:off x="5760720" y="2057400"/>
            <a:ext cx="2880360" cy="685800"/>
          </a:xfrm>
          <a:prstGeom prst="roundRect">
            <a:avLst>
              <a:gd name="adj" fmla="val 13333"/>
            </a:avLst>
          </a:prstGeom>
          <a:solidFill>
            <a:srgbClr val="F2675A"/>
          </a:solidFill>
          <a:ln/>
        </p:spPr>
      </p:sp>
      <p:sp>
        <p:nvSpPr>
          <p:cNvPr id="13" name="Text 11"/>
          <p:cNvSpPr/>
          <p:nvPr/>
        </p:nvSpPr>
        <p:spPr>
          <a:xfrm>
            <a:off x="5760720" y="2057400"/>
            <a:ext cx="2880360" cy="685800"/>
          </a:xfrm>
          <a:prstGeom prst="rect">
            <a:avLst/>
          </a:prstGeom>
          <a:noFill/>
          <a:ln/>
        </p:spPr>
        <p:txBody>
          <a:bodyPr wrap="square" lIns="0" tIns="0" rIns="0" bIns="0" rtlCol="0" anchor="ctr"/>
          <a:lstStyle/>
          <a:p>
            <a:pPr algn="ctr" indent="0" marL="0">
              <a:buNone/>
            </a:pPr>
            <a:r>
              <a:rPr lang="en-US" sz="1150" b="1" dirty="0">
                <a:solidFill>
                  <a:srgbClr val="0B1220"/>
                </a:solidFill>
                <a:latin typeface="Arial" pitchFamily="34" charset="0"/>
                <a:ea typeface="Arial" pitchFamily="34" charset="-122"/>
                <a:cs typeface="Arial" pitchFamily="34" charset="-120"/>
              </a:rPr>
              <a:t>Cancel → Restore from snapshot</a:t>
            </a:r>
            <a:endParaRPr lang="en-US" sz="1150" dirty="0"/>
          </a:p>
        </p:txBody>
      </p:sp>
      <p:sp>
        <p:nvSpPr>
          <p:cNvPr id="14" name="Shape 12"/>
          <p:cNvSpPr/>
          <p:nvPr/>
        </p:nvSpPr>
        <p:spPr>
          <a:xfrm>
            <a:off x="5760720" y="2926080"/>
            <a:ext cx="2880360" cy="1005840"/>
          </a:xfrm>
          <a:prstGeom prst="roundRect">
            <a:avLst>
              <a:gd name="adj" fmla="val 7273"/>
            </a:avLst>
          </a:prstGeom>
          <a:solidFill>
            <a:srgbClr val="16223A"/>
          </a:solidFill>
          <a:ln/>
          <a:effectLst>
            <a:outerShdw sx="100000" sy="100000" kx="0" ky="0" algn="bl" rotWithShape="0" blurRad="101600" dist="38100" dir="5400000">
              <a:srgbClr val="000000">
                <a:alpha val="35000"/>
              </a:srgbClr>
            </a:outerShdw>
          </a:effectLst>
        </p:spPr>
      </p:sp>
      <p:pic>
        <p:nvPicPr>
          <p:cNvPr id="15" name="Image 0" descr="preencoded.png">    </p:cNvPr>
          <p:cNvPicPr>
            <a:picLocks noChangeAspect="1"/>
          </p:cNvPicPr>
          <p:nvPr/>
        </p:nvPicPr>
        <p:blipFill>
          <a:blip r:embed="rId1"/>
          <a:stretch>
            <a:fillRect/>
          </a:stretch>
        </p:blipFill>
        <p:spPr>
          <a:xfrm>
            <a:off x="5943600" y="3108960"/>
            <a:ext cx="365760" cy="365760"/>
          </a:xfrm>
          <a:prstGeom prst="rect">
            <a:avLst/>
          </a:prstGeom>
        </p:spPr>
      </p:pic>
      <p:sp>
        <p:nvSpPr>
          <p:cNvPr id="16" name="Text 13"/>
          <p:cNvSpPr/>
          <p:nvPr/>
        </p:nvSpPr>
        <p:spPr>
          <a:xfrm>
            <a:off x="6400800" y="2926080"/>
            <a:ext cx="2148840" cy="1005840"/>
          </a:xfrm>
          <a:prstGeom prst="rect">
            <a:avLst/>
          </a:prstGeom>
          <a:noFill/>
          <a:ln/>
        </p:spPr>
        <p:txBody>
          <a:bodyPr wrap="square" lIns="0" tIns="0" rIns="0" bIns="0" rtlCol="0" anchor="ctr"/>
          <a:lstStyle/>
          <a:p>
            <a:pPr indent="0" marL="0">
              <a:buNone/>
            </a:pPr>
            <a:r>
              <a:rPr lang="en-US" sz="950" dirty="0">
                <a:solidFill>
                  <a:srgbClr val="8B96AC"/>
                </a:solidFill>
                <a:latin typeface="Calibri" pitchFamily="34" charset="0"/>
                <a:ea typeface="Calibri" pitchFamily="34" charset="-122"/>
                <a:cs typeface="Calibri" pitchFamily="34" charset="-120"/>
              </a:rPr>
              <a:t>The snapshot is always available — you are never at risk.</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274320" y="128016"/>
            <a:ext cx="146304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Arial" pitchFamily="34" charset="0"/>
                <a:ea typeface="Arial" pitchFamily="34" charset="-122"/>
                <a:cs typeface="Arial" pitchFamily="34" charset="-120"/>
              </a:rPr>
              <a:t>UiPath</a:t>
            </a:r>
            <a:endParaRPr lang="en-US" sz="1100" dirty="0"/>
          </a:p>
        </p:txBody>
      </p:sp>
      <p:sp>
        <p:nvSpPr>
          <p:cNvPr id="3" name="Text 1"/>
          <p:cNvSpPr/>
          <p:nvPr/>
        </p:nvSpPr>
        <p:spPr>
          <a:xfrm>
            <a:off x="5212080" y="91440"/>
            <a:ext cx="3657600" cy="411480"/>
          </a:xfrm>
          <a:prstGeom prst="rect">
            <a:avLst/>
          </a:prstGeom>
          <a:noFill/>
          <a:ln/>
        </p:spPr>
        <p:txBody>
          <a:bodyPr wrap="square" lIns="0" tIns="0" rIns="0" bIns="0" rtlCol="0" anchor="ctr"/>
          <a:lstStyle/>
          <a:p>
            <a:pPr algn="r" indent="0" marL="0">
              <a:lnSpc>
                <a:spcPct val="110000"/>
              </a:lnSpc>
              <a:buNone/>
            </a:pPr>
            <a:r>
              <a:rPr lang="en-US" sz="750" b="1" dirty="0">
                <a:solidFill>
                  <a:srgbClr val="22D3EE"/>
                </a:solidFill>
                <a:latin typeface="Calibri" pitchFamily="34" charset="0"/>
                <a:ea typeface="Calibri" pitchFamily="34" charset="-122"/>
                <a:cs typeface="Calibri" pitchFamily="34" charset="-120"/>
              </a:rPr>
              <a:t>UiPath AgentHack</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Track 2 — Maestro Orchestrator</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Team: The OneShot  ·  Author: Minh Le</a:t>
            </a:r>
            <a:endParaRPr lang="en-US" sz="750" dirty="0"/>
          </a:p>
        </p:txBody>
      </p:sp>
      <p:sp>
        <p:nvSpPr>
          <p:cNvPr id="4" name="Text 2"/>
          <p:cNvSpPr/>
          <p:nvPr/>
        </p:nvSpPr>
        <p:spPr>
          <a:xfrm>
            <a:off x="274320" y="4882896"/>
            <a:ext cx="3840480" cy="201168"/>
          </a:xfrm>
          <a:prstGeom prst="rect">
            <a:avLst/>
          </a:prstGeom>
          <a:noFill/>
          <a:ln/>
        </p:spPr>
        <p:txBody>
          <a:bodyPr wrap="square" lIns="0" tIns="0" rIns="0" bIns="0" rtlCol="0" anchor="ctr"/>
          <a:lstStyle/>
          <a:p>
            <a:pPr algn="l" indent="0" marL="0">
              <a:buNone/>
            </a:pPr>
            <a:r>
              <a:rPr lang="en-US" sz="700" dirty="0">
                <a:solidFill>
                  <a:srgbClr val="5C6680"/>
                </a:solidFill>
                <a:latin typeface="Calibri" pitchFamily="34" charset="0"/>
                <a:ea typeface="Calibri" pitchFamily="34" charset="-122"/>
                <a:cs typeface="Calibri" pitchFamily="34" charset="-120"/>
              </a:rPr>
              <a:t>Apache License 2.0   ·   © 2026 The OneShot</a:t>
            </a:r>
            <a:endParaRPr lang="en-US" sz="700" dirty="0"/>
          </a:p>
        </p:txBody>
      </p:sp>
      <p:sp>
        <p:nvSpPr>
          <p:cNvPr id="5" name="Text 3"/>
          <p:cNvSpPr/>
          <p:nvPr/>
        </p:nvSpPr>
        <p:spPr>
          <a:xfrm>
            <a:off x="3657600" y="4846320"/>
            <a:ext cx="5212080" cy="274320"/>
          </a:xfrm>
          <a:prstGeom prst="rect">
            <a:avLst/>
          </a:prstGeom>
          <a:noFill/>
          <a:ln/>
        </p:spPr>
        <p:txBody>
          <a:bodyPr wrap="square" lIns="0" tIns="0" rIns="0" bIns="0" rtlCol="0" anchor="ctr"/>
          <a:lstStyle/>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Builders: Kiro, Codex   ·   Agent Helpers: Qwen, ChatGPT, Claude, Mistral</a:t>
            </a:r>
            <a:endParaRPr lang="en-US" sz="650" dirty="0"/>
          </a:p>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Garbage: Auto Pilot (GitHub)</a:t>
            </a:r>
            <a:endParaRPr lang="en-US" sz="650" dirty="0"/>
          </a:p>
        </p:txBody>
      </p:sp>
      <p:sp>
        <p:nvSpPr>
          <p:cNvPr id="6" name="Text 4"/>
          <p:cNvSpPr/>
          <p:nvPr/>
        </p:nvSpPr>
        <p:spPr>
          <a:xfrm>
            <a:off x="457200" y="548640"/>
            <a:ext cx="8229600" cy="502920"/>
          </a:xfrm>
          <a:prstGeom prst="rect">
            <a:avLst/>
          </a:prstGeom>
          <a:noFill/>
          <a:ln/>
        </p:spPr>
        <p:txBody>
          <a:bodyPr wrap="square" lIns="0" tIns="0" rIns="0" bIns="0" rtlCol="0" anchor="ctr"/>
          <a:lstStyle/>
          <a:p>
            <a:pPr indent="0" marL="0">
              <a:buNone/>
            </a:pPr>
            <a:r>
              <a:rPr lang="en-US" sz="2400" b="1" dirty="0">
                <a:solidFill>
                  <a:srgbClr val="E6EAF2"/>
                </a:solidFill>
                <a:latin typeface="Arial" pitchFamily="34" charset="0"/>
                <a:ea typeface="Arial" pitchFamily="34" charset="-122"/>
                <a:cs typeface="Arial" pitchFamily="34" charset="-120"/>
              </a:rPr>
              <a:t>Six Core Capabilities That Set NextFlow Apart</a:t>
            </a:r>
            <a:endParaRPr lang="en-US" sz="2400" dirty="0"/>
          </a:p>
        </p:txBody>
      </p:sp>
      <p:sp>
        <p:nvSpPr>
          <p:cNvPr id="7" name="Shape 5"/>
          <p:cNvSpPr/>
          <p:nvPr/>
        </p:nvSpPr>
        <p:spPr>
          <a:xfrm>
            <a:off x="457200" y="1234440"/>
            <a:ext cx="2651760" cy="1417320"/>
          </a:xfrm>
          <a:prstGeom prst="roundRect">
            <a:avLst>
              <a:gd name="adj" fmla="val 5161"/>
            </a:avLst>
          </a:prstGeom>
          <a:solidFill>
            <a:srgbClr val="121C30"/>
          </a:solidFill>
          <a:ln/>
          <a:effectLst>
            <a:outerShdw sx="100000" sy="100000" kx="0" ky="0" algn="bl" rotWithShape="0" blurRad="101600" dist="38100" dir="5400000">
              <a:srgbClr val="000000">
                <a:alpha val="35000"/>
              </a:srgbClr>
            </a:outerShdw>
          </a:effectLst>
        </p:spPr>
      </p:sp>
      <p:sp>
        <p:nvSpPr>
          <p:cNvPr id="8" name="Shape 6"/>
          <p:cNvSpPr/>
          <p:nvPr/>
        </p:nvSpPr>
        <p:spPr>
          <a:xfrm>
            <a:off x="640080" y="1417320"/>
            <a:ext cx="457200" cy="457200"/>
          </a:xfrm>
          <a:prstGeom prst="ellipse">
            <a:avLst/>
          </a:prstGeom>
          <a:solidFill>
            <a:srgbClr val="22D3EE"/>
          </a:solidFill>
          <a:ln/>
        </p:spPr>
      </p:sp>
      <p:pic>
        <p:nvPicPr>
          <p:cNvPr id="9" name="Image 0" descr="preencoded.png">    </p:cNvPr>
          <p:cNvPicPr>
            <a:picLocks noChangeAspect="1"/>
          </p:cNvPicPr>
          <p:nvPr/>
        </p:nvPicPr>
        <p:blipFill>
          <a:blip r:embed="rId1"/>
          <a:stretch>
            <a:fillRect/>
          </a:stretch>
        </p:blipFill>
        <p:spPr>
          <a:xfrm>
            <a:off x="758952" y="1536192"/>
            <a:ext cx="219456" cy="219456"/>
          </a:xfrm>
          <a:prstGeom prst="rect">
            <a:avLst/>
          </a:prstGeom>
        </p:spPr>
      </p:pic>
      <p:sp>
        <p:nvSpPr>
          <p:cNvPr id="10" name="Text 7"/>
          <p:cNvSpPr/>
          <p:nvPr/>
        </p:nvSpPr>
        <p:spPr>
          <a:xfrm>
            <a:off x="1234440" y="1399032"/>
            <a:ext cx="1737360" cy="457200"/>
          </a:xfrm>
          <a:prstGeom prst="rect">
            <a:avLst/>
          </a:prstGeom>
          <a:noFill/>
          <a:ln/>
        </p:spPr>
        <p:txBody>
          <a:bodyPr wrap="square" lIns="0" tIns="0" rIns="0" bIns="0" rtlCol="0" anchor="ctr"/>
          <a:lstStyle/>
          <a:p>
            <a:pPr indent="0" marL="0">
              <a:buNone/>
            </a:pPr>
            <a:r>
              <a:rPr lang="en-US" sz="1250" b="1" dirty="0">
                <a:solidFill>
                  <a:srgbClr val="E6EAF2"/>
                </a:solidFill>
                <a:latin typeface="Arial" pitchFamily="34" charset="0"/>
                <a:ea typeface="Arial" pitchFamily="34" charset="-122"/>
                <a:cs typeface="Arial" pitchFamily="34" charset="-120"/>
              </a:rPr>
              <a:t>Snapshot &amp; Restore</a:t>
            </a:r>
            <a:endParaRPr lang="en-US" sz="1250" dirty="0"/>
          </a:p>
        </p:txBody>
      </p:sp>
      <p:sp>
        <p:nvSpPr>
          <p:cNvPr id="11" name="Text 8"/>
          <p:cNvSpPr/>
          <p:nvPr/>
        </p:nvSpPr>
        <p:spPr>
          <a:xfrm>
            <a:off x="640080" y="1892808"/>
            <a:ext cx="2286000" cy="640080"/>
          </a:xfrm>
          <a:prstGeom prst="rect">
            <a:avLst/>
          </a:prstGeom>
          <a:noFill/>
          <a:ln/>
        </p:spPr>
        <p:txBody>
          <a:bodyPr wrap="square" lIns="0" tIns="0" rIns="0" bIns="0" rtlCol="0" anchor="t"/>
          <a:lstStyle/>
          <a:p>
            <a:pPr indent="0" marL="0">
              <a:buNone/>
            </a:pPr>
            <a:r>
              <a:rPr lang="en-US" sz="950" dirty="0">
                <a:solidFill>
                  <a:srgbClr val="8B96AC"/>
                </a:solidFill>
                <a:latin typeface="Calibri" pitchFamily="34" charset="0"/>
                <a:ea typeface="Calibri" pitchFamily="34" charset="-122"/>
                <a:cs typeface="Calibri" pitchFamily="34" charset="-120"/>
              </a:rPr>
              <a:t>Original state always captured and available. Restore at any point, one click.</a:t>
            </a:r>
            <a:endParaRPr lang="en-US" sz="950" dirty="0"/>
          </a:p>
        </p:txBody>
      </p:sp>
      <p:sp>
        <p:nvSpPr>
          <p:cNvPr id="12" name="Shape 9"/>
          <p:cNvSpPr/>
          <p:nvPr/>
        </p:nvSpPr>
        <p:spPr>
          <a:xfrm>
            <a:off x="3246120" y="1234440"/>
            <a:ext cx="2651760" cy="1417320"/>
          </a:xfrm>
          <a:prstGeom prst="roundRect">
            <a:avLst>
              <a:gd name="adj" fmla="val 5161"/>
            </a:avLst>
          </a:prstGeom>
          <a:solidFill>
            <a:srgbClr val="121C30"/>
          </a:solidFill>
          <a:ln/>
          <a:effectLst>
            <a:outerShdw sx="100000" sy="100000" kx="0" ky="0" algn="bl" rotWithShape="0" blurRad="101600" dist="38100" dir="5400000">
              <a:srgbClr val="000000">
                <a:alpha val="35000"/>
              </a:srgbClr>
            </a:outerShdw>
          </a:effectLst>
        </p:spPr>
      </p:sp>
      <p:sp>
        <p:nvSpPr>
          <p:cNvPr id="13" name="Shape 10"/>
          <p:cNvSpPr/>
          <p:nvPr/>
        </p:nvSpPr>
        <p:spPr>
          <a:xfrm>
            <a:off x="3429000" y="1417320"/>
            <a:ext cx="457200" cy="457200"/>
          </a:xfrm>
          <a:prstGeom prst="ellipse">
            <a:avLst/>
          </a:prstGeom>
          <a:solidFill>
            <a:srgbClr val="22D3EE"/>
          </a:solidFill>
          <a:ln/>
        </p:spPr>
      </p:sp>
      <p:pic>
        <p:nvPicPr>
          <p:cNvPr id="14" name="Image 1" descr="preencoded.png">    </p:cNvPr>
          <p:cNvPicPr>
            <a:picLocks noChangeAspect="1"/>
          </p:cNvPicPr>
          <p:nvPr/>
        </p:nvPicPr>
        <p:blipFill>
          <a:blip r:embed="rId2"/>
          <a:stretch>
            <a:fillRect/>
          </a:stretch>
        </p:blipFill>
        <p:spPr>
          <a:xfrm>
            <a:off x="3547872" y="1536192"/>
            <a:ext cx="219456" cy="219456"/>
          </a:xfrm>
          <a:prstGeom prst="rect">
            <a:avLst/>
          </a:prstGeom>
        </p:spPr>
      </p:pic>
      <p:sp>
        <p:nvSpPr>
          <p:cNvPr id="15" name="Text 11"/>
          <p:cNvSpPr/>
          <p:nvPr/>
        </p:nvSpPr>
        <p:spPr>
          <a:xfrm>
            <a:off x="4023360" y="1399032"/>
            <a:ext cx="1737360" cy="457200"/>
          </a:xfrm>
          <a:prstGeom prst="rect">
            <a:avLst/>
          </a:prstGeom>
          <a:noFill/>
          <a:ln/>
        </p:spPr>
        <p:txBody>
          <a:bodyPr wrap="square" lIns="0" tIns="0" rIns="0" bIns="0" rtlCol="0" anchor="ctr"/>
          <a:lstStyle/>
          <a:p>
            <a:pPr indent="0" marL="0">
              <a:buNone/>
            </a:pPr>
            <a:r>
              <a:rPr lang="en-US" sz="1250" b="1" dirty="0">
                <a:solidFill>
                  <a:srgbClr val="E6EAF2"/>
                </a:solidFill>
                <a:latin typeface="Arial" pitchFamily="34" charset="0"/>
                <a:ea typeface="Arial" pitchFamily="34" charset="-122"/>
                <a:cs typeface="Arial" pitchFamily="34" charset="-120"/>
              </a:rPr>
              <a:t>Real-Time Scanning</a:t>
            </a:r>
            <a:endParaRPr lang="en-US" sz="1250" dirty="0"/>
          </a:p>
        </p:txBody>
      </p:sp>
      <p:sp>
        <p:nvSpPr>
          <p:cNvPr id="16" name="Text 12"/>
          <p:cNvSpPr/>
          <p:nvPr/>
        </p:nvSpPr>
        <p:spPr>
          <a:xfrm>
            <a:off x="3429000" y="1892808"/>
            <a:ext cx="2286000" cy="640080"/>
          </a:xfrm>
          <a:prstGeom prst="rect">
            <a:avLst/>
          </a:prstGeom>
          <a:noFill/>
          <a:ln/>
        </p:spPr>
        <p:txBody>
          <a:bodyPr wrap="square" lIns="0" tIns="0" rIns="0" bIns="0" rtlCol="0" anchor="t"/>
          <a:lstStyle/>
          <a:p>
            <a:pPr indent="0" marL="0">
              <a:buNone/>
            </a:pPr>
            <a:r>
              <a:rPr lang="en-US" sz="950" dirty="0">
                <a:solidFill>
                  <a:srgbClr val="8B96AC"/>
                </a:solidFill>
                <a:latin typeface="Calibri" pitchFamily="34" charset="0"/>
                <a:ea typeface="Calibri" pitchFamily="34" charset="-122"/>
                <a:cs typeface="Calibri" pitchFamily="34" charset="-120"/>
              </a:rPr>
              <a:t>Python compileall + AST analysis. Real detection of syntax errors and missing dependencies.</a:t>
            </a:r>
            <a:endParaRPr lang="en-US" sz="950" dirty="0"/>
          </a:p>
        </p:txBody>
      </p:sp>
      <p:sp>
        <p:nvSpPr>
          <p:cNvPr id="17" name="Shape 13"/>
          <p:cNvSpPr/>
          <p:nvPr/>
        </p:nvSpPr>
        <p:spPr>
          <a:xfrm>
            <a:off x="6035040" y="1234440"/>
            <a:ext cx="2651760" cy="1417320"/>
          </a:xfrm>
          <a:prstGeom prst="roundRect">
            <a:avLst>
              <a:gd name="adj" fmla="val 5161"/>
            </a:avLst>
          </a:prstGeom>
          <a:solidFill>
            <a:srgbClr val="121C30"/>
          </a:solidFill>
          <a:ln/>
          <a:effectLst>
            <a:outerShdw sx="100000" sy="100000" kx="0" ky="0" algn="bl" rotWithShape="0" blurRad="101600" dist="38100" dir="5400000">
              <a:srgbClr val="000000">
                <a:alpha val="35000"/>
              </a:srgbClr>
            </a:outerShdw>
          </a:effectLst>
        </p:spPr>
      </p:sp>
      <p:sp>
        <p:nvSpPr>
          <p:cNvPr id="18" name="Shape 14"/>
          <p:cNvSpPr/>
          <p:nvPr/>
        </p:nvSpPr>
        <p:spPr>
          <a:xfrm>
            <a:off x="6217920" y="1417320"/>
            <a:ext cx="457200" cy="457200"/>
          </a:xfrm>
          <a:prstGeom prst="ellipse">
            <a:avLst/>
          </a:prstGeom>
          <a:solidFill>
            <a:srgbClr val="22D3EE"/>
          </a:solidFill>
          <a:ln/>
        </p:spPr>
      </p:sp>
      <p:pic>
        <p:nvPicPr>
          <p:cNvPr id="19" name="Image 2" descr="preencoded.png">    </p:cNvPr>
          <p:cNvPicPr>
            <a:picLocks noChangeAspect="1"/>
          </p:cNvPicPr>
          <p:nvPr/>
        </p:nvPicPr>
        <p:blipFill>
          <a:blip r:embed="rId3"/>
          <a:stretch>
            <a:fillRect/>
          </a:stretch>
        </p:blipFill>
        <p:spPr>
          <a:xfrm>
            <a:off x="6336792" y="1536192"/>
            <a:ext cx="219456" cy="219456"/>
          </a:xfrm>
          <a:prstGeom prst="rect">
            <a:avLst/>
          </a:prstGeom>
        </p:spPr>
      </p:pic>
      <p:sp>
        <p:nvSpPr>
          <p:cNvPr id="20" name="Text 15"/>
          <p:cNvSpPr/>
          <p:nvPr/>
        </p:nvSpPr>
        <p:spPr>
          <a:xfrm>
            <a:off x="6812280" y="1399032"/>
            <a:ext cx="1737360" cy="457200"/>
          </a:xfrm>
          <a:prstGeom prst="rect">
            <a:avLst/>
          </a:prstGeom>
          <a:noFill/>
          <a:ln/>
        </p:spPr>
        <p:txBody>
          <a:bodyPr wrap="square" lIns="0" tIns="0" rIns="0" bIns="0" rtlCol="0" anchor="ctr"/>
          <a:lstStyle/>
          <a:p>
            <a:pPr indent="0" marL="0">
              <a:buNone/>
            </a:pPr>
            <a:r>
              <a:rPr lang="en-US" sz="1250" b="1" dirty="0">
                <a:solidFill>
                  <a:srgbClr val="E6EAF2"/>
                </a:solidFill>
                <a:latin typeface="Arial" pitchFamily="34" charset="0"/>
                <a:ea typeface="Arial" pitchFamily="34" charset="-122"/>
                <a:cs typeface="Arial" pitchFamily="34" charset="-120"/>
              </a:rPr>
              <a:t>Deterministic Simulation</a:t>
            </a:r>
            <a:endParaRPr lang="en-US" sz="1250" dirty="0"/>
          </a:p>
        </p:txBody>
      </p:sp>
      <p:sp>
        <p:nvSpPr>
          <p:cNvPr id="21" name="Text 16"/>
          <p:cNvSpPr/>
          <p:nvPr/>
        </p:nvSpPr>
        <p:spPr>
          <a:xfrm>
            <a:off x="6217920" y="1892808"/>
            <a:ext cx="2286000" cy="640080"/>
          </a:xfrm>
          <a:prstGeom prst="rect">
            <a:avLst/>
          </a:prstGeom>
          <a:noFill/>
          <a:ln/>
        </p:spPr>
        <p:txBody>
          <a:bodyPr wrap="square" lIns="0" tIns="0" rIns="0" bIns="0" rtlCol="0" anchor="t"/>
          <a:lstStyle/>
          <a:p>
            <a:pPr indent="0" marL="0">
              <a:buNone/>
            </a:pPr>
            <a:r>
              <a:rPr lang="en-US" sz="950" dirty="0">
                <a:solidFill>
                  <a:srgbClr val="8B96AC"/>
                </a:solidFill>
                <a:latin typeface="Calibri" pitchFamily="34" charset="0"/>
                <a:ea typeface="Calibri" pitchFamily="34" charset="-122"/>
                <a:cs typeface="Calibri" pitchFamily="34" charset="-120"/>
              </a:rPr>
              <a:t>All mutations on a candidate copy. See the result before you commit to it.</a:t>
            </a:r>
            <a:endParaRPr lang="en-US" sz="950" dirty="0"/>
          </a:p>
        </p:txBody>
      </p:sp>
      <p:sp>
        <p:nvSpPr>
          <p:cNvPr id="22" name="Shape 17"/>
          <p:cNvSpPr/>
          <p:nvPr/>
        </p:nvSpPr>
        <p:spPr>
          <a:xfrm>
            <a:off x="457200" y="2816352"/>
            <a:ext cx="2651760" cy="1417320"/>
          </a:xfrm>
          <a:prstGeom prst="roundRect">
            <a:avLst>
              <a:gd name="adj" fmla="val 5161"/>
            </a:avLst>
          </a:prstGeom>
          <a:solidFill>
            <a:srgbClr val="121C30"/>
          </a:solidFill>
          <a:ln/>
          <a:effectLst>
            <a:outerShdw sx="100000" sy="100000" kx="0" ky="0" algn="bl" rotWithShape="0" blurRad="101600" dist="38100" dir="5400000">
              <a:srgbClr val="000000">
                <a:alpha val="35000"/>
              </a:srgbClr>
            </a:outerShdw>
          </a:effectLst>
        </p:spPr>
      </p:sp>
      <p:sp>
        <p:nvSpPr>
          <p:cNvPr id="23" name="Shape 18"/>
          <p:cNvSpPr/>
          <p:nvPr/>
        </p:nvSpPr>
        <p:spPr>
          <a:xfrm>
            <a:off x="640080" y="2999232"/>
            <a:ext cx="457200" cy="457200"/>
          </a:xfrm>
          <a:prstGeom prst="ellipse">
            <a:avLst/>
          </a:prstGeom>
          <a:solidFill>
            <a:srgbClr val="22D3EE"/>
          </a:solidFill>
          <a:ln/>
        </p:spPr>
      </p:sp>
      <p:pic>
        <p:nvPicPr>
          <p:cNvPr id="24" name="Image 3" descr="preencoded.png">    </p:cNvPr>
          <p:cNvPicPr>
            <a:picLocks noChangeAspect="1"/>
          </p:cNvPicPr>
          <p:nvPr/>
        </p:nvPicPr>
        <p:blipFill>
          <a:blip r:embed="rId4"/>
          <a:stretch>
            <a:fillRect/>
          </a:stretch>
        </p:blipFill>
        <p:spPr>
          <a:xfrm>
            <a:off x="758952" y="3118104"/>
            <a:ext cx="219456" cy="219456"/>
          </a:xfrm>
          <a:prstGeom prst="rect">
            <a:avLst/>
          </a:prstGeom>
        </p:spPr>
      </p:pic>
      <p:sp>
        <p:nvSpPr>
          <p:cNvPr id="25" name="Text 19"/>
          <p:cNvSpPr/>
          <p:nvPr/>
        </p:nvSpPr>
        <p:spPr>
          <a:xfrm>
            <a:off x="1234440" y="2980944"/>
            <a:ext cx="1737360" cy="457200"/>
          </a:xfrm>
          <a:prstGeom prst="rect">
            <a:avLst/>
          </a:prstGeom>
          <a:noFill/>
          <a:ln/>
        </p:spPr>
        <p:txBody>
          <a:bodyPr wrap="square" lIns="0" tIns="0" rIns="0" bIns="0" rtlCol="0" anchor="ctr"/>
          <a:lstStyle/>
          <a:p>
            <a:pPr indent="0" marL="0">
              <a:buNone/>
            </a:pPr>
            <a:r>
              <a:rPr lang="en-US" sz="1250" b="1" dirty="0">
                <a:solidFill>
                  <a:srgbClr val="E6EAF2"/>
                </a:solidFill>
                <a:latin typeface="Arial" pitchFamily="34" charset="0"/>
                <a:ea typeface="Arial" pitchFamily="34" charset="-122"/>
                <a:cs typeface="Arial" pitchFamily="34" charset="-120"/>
              </a:rPr>
              <a:t>Information Completeness</a:t>
            </a:r>
            <a:endParaRPr lang="en-US" sz="1250" dirty="0"/>
          </a:p>
        </p:txBody>
      </p:sp>
      <p:sp>
        <p:nvSpPr>
          <p:cNvPr id="26" name="Text 20"/>
          <p:cNvSpPr/>
          <p:nvPr/>
        </p:nvSpPr>
        <p:spPr>
          <a:xfrm>
            <a:off x="640080" y="3474720"/>
            <a:ext cx="2286000" cy="640080"/>
          </a:xfrm>
          <a:prstGeom prst="rect">
            <a:avLst/>
          </a:prstGeom>
          <a:noFill/>
          <a:ln/>
        </p:spPr>
        <p:txBody>
          <a:bodyPr wrap="square" lIns="0" tIns="0" rIns="0" bIns="0" rtlCol="0" anchor="t"/>
          <a:lstStyle/>
          <a:p>
            <a:pPr indent="0" marL="0">
              <a:buNone/>
            </a:pPr>
            <a:r>
              <a:rPr lang="en-US" sz="950" dirty="0">
                <a:solidFill>
                  <a:srgbClr val="8B96AC"/>
                </a:solidFill>
                <a:latin typeface="Calibri" pitchFamily="34" charset="0"/>
                <a:ea typeface="Calibri" pitchFamily="34" charset="-122"/>
                <a:cs typeface="Calibri" pitchFamily="34" charset="-120"/>
              </a:rPr>
              <a:t>93.91% threshold ensures one-shot success. Isolation branches handle information gaps.</a:t>
            </a:r>
            <a:endParaRPr lang="en-US" sz="950" dirty="0"/>
          </a:p>
        </p:txBody>
      </p:sp>
      <p:sp>
        <p:nvSpPr>
          <p:cNvPr id="27" name="Shape 21"/>
          <p:cNvSpPr/>
          <p:nvPr/>
        </p:nvSpPr>
        <p:spPr>
          <a:xfrm>
            <a:off x="3246120" y="2816352"/>
            <a:ext cx="2651760" cy="1417320"/>
          </a:xfrm>
          <a:prstGeom prst="roundRect">
            <a:avLst>
              <a:gd name="adj" fmla="val 5161"/>
            </a:avLst>
          </a:prstGeom>
          <a:solidFill>
            <a:srgbClr val="121C30"/>
          </a:solidFill>
          <a:ln/>
          <a:effectLst>
            <a:outerShdw sx="100000" sy="100000" kx="0" ky="0" algn="bl" rotWithShape="0" blurRad="101600" dist="38100" dir="5400000">
              <a:srgbClr val="000000">
                <a:alpha val="35000"/>
              </a:srgbClr>
            </a:outerShdw>
          </a:effectLst>
        </p:spPr>
      </p:sp>
      <p:sp>
        <p:nvSpPr>
          <p:cNvPr id="28" name="Shape 22"/>
          <p:cNvSpPr/>
          <p:nvPr/>
        </p:nvSpPr>
        <p:spPr>
          <a:xfrm>
            <a:off x="3429000" y="2999232"/>
            <a:ext cx="457200" cy="457200"/>
          </a:xfrm>
          <a:prstGeom prst="ellipse">
            <a:avLst/>
          </a:prstGeom>
          <a:solidFill>
            <a:srgbClr val="22D3EE"/>
          </a:solidFill>
          <a:ln/>
        </p:spPr>
      </p:sp>
      <p:pic>
        <p:nvPicPr>
          <p:cNvPr id="29" name="Image 4" descr="preencoded.png">    </p:cNvPr>
          <p:cNvPicPr>
            <a:picLocks noChangeAspect="1"/>
          </p:cNvPicPr>
          <p:nvPr/>
        </p:nvPicPr>
        <p:blipFill>
          <a:blip r:embed="rId5"/>
          <a:stretch>
            <a:fillRect/>
          </a:stretch>
        </p:blipFill>
        <p:spPr>
          <a:xfrm>
            <a:off x="3547872" y="3118104"/>
            <a:ext cx="219456" cy="219456"/>
          </a:xfrm>
          <a:prstGeom prst="rect">
            <a:avLst/>
          </a:prstGeom>
        </p:spPr>
      </p:pic>
      <p:sp>
        <p:nvSpPr>
          <p:cNvPr id="30" name="Text 23"/>
          <p:cNvSpPr/>
          <p:nvPr/>
        </p:nvSpPr>
        <p:spPr>
          <a:xfrm>
            <a:off x="4023360" y="2980944"/>
            <a:ext cx="1737360" cy="457200"/>
          </a:xfrm>
          <a:prstGeom prst="rect">
            <a:avLst/>
          </a:prstGeom>
          <a:noFill/>
          <a:ln/>
        </p:spPr>
        <p:txBody>
          <a:bodyPr wrap="square" lIns="0" tIns="0" rIns="0" bIns="0" rtlCol="0" anchor="ctr"/>
          <a:lstStyle/>
          <a:p>
            <a:pPr indent="0" marL="0">
              <a:buNone/>
            </a:pPr>
            <a:r>
              <a:rPr lang="en-US" sz="1250" b="1" dirty="0">
                <a:solidFill>
                  <a:srgbClr val="E6EAF2"/>
                </a:solidFill>
                <a:latin typeface="Arial" pitchFamily="34" charset="0"/>
                <a:ea typeface="Arial" pitchFamily="34" charset="-122"/>
                <a:cs typeface="Arial" pitchFamily="34" charset="-120"/>
              </a:rPr>
              <a:t>Before/After Diff</a:t>
            </a:r>
            <a:endParaRPr lang="en-US" sz="1250" dirty="0"/>
          </a:p>
        </p:txBody>
      </p:sp>
      <p:sp>
        <p:nvSpPr>
          <p:cNvPr id="31" name="Text 24"/>
          <p:cNvSpPr/>
          <p:nvPr/>
        </p:nvSpPr>
        <p:spPr>
          <a:xfrm>
            <a:off x="3429000" y="3474720"/>
            <a:ext cx="2286000" cy="640080"/>
          </a:xfrm>
          <a:prstGeom prst="rect">
            <a:avLst/>
          </a:prstGeom>
          <a:noFill/>
          <a:ln/>
        </p:spPr>
        <p:txBody>
          <a:bodyPr wrap="square" lIns="0" tIns="0" rIns="0" bIns="0" rtlCol="0" anchor="t"/>
          <a:lstStyle/>
          <a:p>
            <a:pPr indent="0" marL="0">
              <a:buNone/>
            </a:pPr>
            <a:r>
              <a:rPr lang="en-US" sz="950" dirty="0">
                <a:solidFill>
                  <a:srgbClr val="8B96AC"/>
                </a:solidFill>
                <a:latin typeface="Calibri" pitchFamily="34" charset="0"/>
                <a:ea typeface="Calibri" pitchFamily="34" charset="-122"/>
                <a:cs typeface="Calibri" pitchFamily="34" charset="-120"/>
              </a:rPr>
              <a:t>Complete transparency. See what was resolved, what wasn't, and exactly why.</a:t>
            </a:r>
            <a:endParaRPr lang="en-US" sz="950" dirty="0"/>
          </a:p>
        </p:txBody>
      </p:sp>
      <p:sp>
        <p:nvSpPr>
          <p:cNvPr id="32" name="Shape 25"/>
          <p:cNvSpPr/>
          <p:nvPr/>
        </p:nvSpPr>
        <p:spPr>
          <a:xfrm>
            <a:off x="6035040" y="2816352"/>
            <a:ext cx="2651760" cy="1417320"/>
          </a:xfrm>
          <a:prstGeom prst="roundRect">
            <a:avLst>
              <a:gd name="adj" fmla="val 5161"/>
            </a:avLst>
          </a:prstGeom>
          <a:solidFill>
            <a:srgbClr val="121C30"/>
          </a:solidFill>
          <a:ln/>
          <a:effectLst>
            <a:outerShdw sx="100000" sy="100000" kx="0" ky="0" algn="bl" rotWithShape="0" blurRad="101600" dist="38100" dir="5400000">
              <a:srgbClr val="000000">
                <a:alpha val="35000"/>
              </a:srgbClr>
            </a:outerShdw>
          </a:effectLst>
        </p:spPr>
      </p:sp>
      <p:sp>
        <p:nvSpPr>
          <p:cNvPr id="33" name="Shape 26"/>
          <p:cNvSpPr/>
          <p:nvPr/>
        </p:nvSpPr>
        <p:spPr>
          <a:xfrm>
            <a:off x="6217920" y="2999232"/>
            <a:ext cx="457200" cy="457200"/>
          </a:xfrm>
          <a:prstGeom prst="ellipse">
            <a:avLst/>
          </a:prstGeom>
          <a:solidFill>
            <a:srgbClr val="22D3EE"/>
          </a:solidFill>
          <a:ln/>
        </p:spPr>
      </p:sp>
      <p:pic>
        <p:nvPicPr>
          <p:cNvPr id="34" name="Image 5" descr="preencoded.png">    </p:cNvPr>
          <p:cNvPicPr>
            <a:picLocks noChangeAspect="1"/>
          </p:cNvPicPr>
          <p:nvPr/>
        </p:nvPicPr>
        <p:blipFill>
          <a:blip r:embed="rId6"/>
          <a:stretch>
            <a:fillRect/>
          </a:stretch>
        </p:blipFill>
        <p:spPr>
          <a:xfrm>
            <a:off x="6336792" y="3118104"/>
            <a:ext cx="219456" cy="219456"/>
          </a:xfrm>
          <a:prstGeom prst="rect">
            <a:avLst/>
          </a:prstGeom>
        </p:spPr>
      </p:pic>
      <p:sp>
        <p:nvSpPr>
          <p:cNvPr id="35" name="Text 27"/>
          <p:cNvSpPr/>
          <p:nvPr/>
        </p:nvSpPr>
        <p:spPr>
          <a:xfrm>
            <a:off x="6812280" y="2980944"/>
            <a:ext cx="1737360" cy="457200"/>
          </a:xfrm>
          <a:prstGeom prst="rect">
            <a:avLst/>
          </a:prstGeom>
          <a:noFill/>
          <a:ln/>
        </p:spPr>
        <p:txBody>
          <a:bodyPr wrap="square" lIns="0" tIns="0" rIns="0" bIns="0" rtlCol="0" anchor="ctr"/>
          <a:lstStyle/>
          <a:p>
            <a:pPr indent="0" marL="0">
              <a:buNone/>
            </a:pPr>
            <a:r>
              <a:rPr lang="en-US" sz="1250" b="1" dirty="0">
                <a:solidFill>
                  <a:srgbClr val="E6EAF2"/>
                </a:solidFill>
                <a:latin typeface="Arial" pitchFamily="34" charset="0"/>
                <a:ea typeface="Arial" pitchFamily="34" charset="-122"/>
                <a:cs typeface="Arial" pitchFamily="34" charset="-120"/>
              </a:rPr>
              <a:t>Zero Silent Failures</a:t>
            </a:r>
            <a:endParaRPr lang="en-US" sz="1250" dirty="0"/>
          </a:p>
        </p:txBody>
      </p:sp>
      <p:sp>
        <p:nvSpPr>
          <p:cNvPr id="36" name="Text 28"/>
          <p:cNvSpPr/>
          <p:nvPr/>
        </p:nvSpPr>
        <p:spPr>
          <a:xfrm>
            <a:off x="6217920" y="3474720"/>
            <a:ext cx="2286000" cy="640080"/>
          </a:xfrm>
          <a:prstGeom prst="rect">
            <a:avLst/>
          </a:prstGeom>
          <a:noFill/>
          <a:ln/>
        </p:spPr>
        <p:txBody>
          <a:bodyPr wrap="square" lIns="0" tIns="0" rIns="0" bIns="0" rtlCol="0" anchor="t"/>
          <a:lstStyle/>
          <a:p>
            <a:pPr indent="0" marL="0">
              <a:buNone/>
            </a:pPr>
            <a:r>
              <a:rPr lang="en-US" sz="950" dirty="0">
                <a:solidFill>
                  <a:srgbClr val="8B96AC"/>
                </a:solidFill>
                <a:latin typeface="Calibri" pitchFamily="34" charset="0"/>
                <a:ea typeface="Calibri" pitchFamily="34" charset="-122"/>
                <a:cs typeface="Calibri" pitchFamily="34" charset="-120"/>
              </a:rPr>
              <a:t>Every path produces a report. Success, failure, partial success — all documented.</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274320" y="128016"/>
            <a:ext cx="146304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Arial" pitchFamily="34" charset="0"/>
                <a:ea typeface="Arial" pitchFamily="34" charset="-122"/>
                <a:cs typeface="Arial" pitchFamily="34" charset="-120"/>
              </a:rPr>
              <a:t>UiPath</a:t>
            </a:r>
            <a:endParaRPr lang="en-US" sz="1100" dirty="0"/>
          </a:p>
        </p:txBody>
      </p:sp>
      <p:sp>
        <p:nvSpPr>
          <p:cNvPr id="3" name="Text 1"/>
          <p:cNvSpPr/>
          <p:nvPr/>
        </p:nvSpPr>
        <p:spPr>
          <a:xfrm>
            <a:off x="5212080" y="91440"/>
            <a:ext cx="3657600" cy="411480"/>
          </a:xfrm>
          <a:prstGeom prst="rect">
            <a:avLst/>
          </a:prstGeom>
          <a:noFill/>
          <a:ln/>
        </p:spPr>
        <p:txBody>
          <a:bodyPr wrap="square" lIns="0" tIns="0" rIns="0" bIns="0" rtlCol="0" anchor="ctr"/>
          <a:lstStyle/>
          <a:p>
            <a:pPr algn="r" indent="0" marL="0">
              <a:lnSpc>
                <a:spcPct val="110000"/>
              </a:lnSpc>
              <a:buNone/>
            </a:pPr>
            <a:r>
              <a:rPr lang="en-US" sz="750" b="1" dirty="0">
                <a:solidFill>
                  <a:srgbClr val="22D3EE"/>
                </a:solidFill>
                <a:latin typeface="Calibri" pitchFamily="34" charset="0"/>
                <a:ea typeface="Calibri" pitchFamily="34" charset="-122"/>
                <a:cs typeface="Calibri" pitchFamily="34" charset="-120"/>
              </a:rPr>
              <a:t>UiPath AgentHack</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Track 2 — Maestro Orchestrator</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Team: The OneShot  ·  Author: Minh Le</a:t>
            </a:r>
            <a:endParaRPr lang="en-US" sz="750" dirty="0"/>
          </a:p>
        </p:txBody>
      </p:sp>
      <p:sp>
        <p:nvSpPr>
          <p:cNvPr id="4" name="Text 2"/>
          <p:cNvSpPr/>
          <p:nvPr/>
        </p:nvSpPr>
        <p:spPr>
          <a:xfrm>
            <a:off x="274320" y="4882896"/>
            <a:ext cx="3840480" cy="201168"/>
          </a:xfrm>
          <a:prstGeom prst="rect">
            <a:avLst/>
          </a:prstGeom>
          <a:noFill/>
          <a:ln/>
        </p:spPr>
        <p:txBody>
          <a:bodyPr wrap="square" lIns="0" tIns="0" rIns="0" bIns="0" rtlCol="0" anchor="ctr"/>
          <a:lstStyle/>
          <a:p>
            <a:pPr algn="l" indent="0" marL="0">
              <a:buNone/>
            </a:pPr>
            <a:r>
              <a:rPr lang="en-US" sz="700" dirty="0">
                <a:solidFill>
                  <a:srgbClr val="5C6680"/>
                </a:solidFill>
                <a:latin typeface="Calibri" pitchFamily="34" charset="0"/>
                <a:ea typeface="Calibri" pitchFamily="34" charset="-122"/>
                <a:cs typeface="Calibri" pitchFamily="34" charset="-120"/>
              </a:rPr>
              <a:t>Apache License 2.0   ·   © 2026 The OneShot</a:t>
            </a:r>
            <a:endParaRPr lang="en-US" sz="700" dirty="0"/>
          </a:p>
        </p:txBody>
      </p:sp>
      <p:sp>
        <p:nvSpPr>
          <p:cNvPr id="5" name="Text 3"/>
          <p:cNvSpPr/>
          <p:nvPr/>
        </p:nvSpPr>
        <p:spPr>
          <a:xfrm>
            <a:off x="3657600" y="4846320"/>
            <a:ext cx="5212080" cy="274320"/>
          </a:xfrm>
          <a:prstGeom prst="rect">
            <a:avLst/>
          </a:prstGeom>
          <a:noFill/>
          <a:ln/>
        </p:spPr>
        <p:txBody>
          <a:bodyPr wrap="square" lIns="0" tIns="0" rIns="0" bIns="0" rtlCol="0" anchor="ctr"/>
          <a:lstStyle/>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Builders: Kiro, Codex   ·   Agent Helpers: Qwen, ChatGPT, Claude, Mistral</a:t>
            </a:r>
            <a:endParaRPr lang="en-US" sz="650" dirty="0"/>
          </a:p>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Garbage: Auto Pilot (GitHub)</a:t>
            </a:r>
            <a:endParaRPr lang="en-US" sz="650" dirty="0"/>
          </a:p>
        </p:txBody>
      </p:sp>
      <p:sp>
        <p:nvSpPr>
          <p:cNvPr id="6" name="Text 4"/>
          <p:cNvSpPr/>
          <p:nvPr/>
        </p:nvSpPr>
        <p:spPr>
          <a:xfrm>
            <a:off x="457200" y="548640"/>
            <a:ext cx="8229600" cy="502920"/>
          </a:xfrm>
          <a:prstGeom prst="rect">
            <a:avLst/>
          </a:prstGeom>
          <a:noFill/>
          <a:ln/>
        </p:spPr>
        <p:txBody>
          <a:bodyPr wrap="square" lIns="0" tIns="0" rIns="0" bIns="0" rtlCol="0" anchor="ctr"/>
          <a:lstStyle/>
          <a:p>
            <a:pPr indent="0" marL="0">
              <a:buNone/>
            </a:pPr>
            <a:r>
              <a:rPr lang="en-US" sz="2300" b="1" dirty="0">
                <a:solidFill>
                  <a:srgbClr val="E6EAF2"/>
                </a:solidFill>
                <a:latin typeface="Arial" pitchFamily="34" charset="0"/>
                <a:ea typeface="Arial" pitchFamily="34" charset="-122"/>
                <a:cs typeface="Arial" pitchFamily="34" charset="-120"/>
              </a:rPr>
              <a:t>NextFlow in Action — Real-Time Pipeline Execution</a:t>
            </a:r>
            <a:endParaRPr lang="en-US" sz="2300" dirty="0"/>
          </a:p>
        </p:txBody>
      </p:sp>
      <p:sp>
        <p:nvSpPr>
          <p:cNvPr id="7" name="Shape 5"/>
          <p:cNvSpPr/>
          <p:nvPr/>
        </p:nvSpPr>
        <p:spPr>
          <a:xfrm>
            <a:off x="457200" y="1188720"/>
            <a:ext cx="8229600" cy="2743200"/>
          </a:xfrm>
          <a:prstGeom prst="roundRect">
            <a:avLst>
              <a:gd name="adj" fmla="val 2667"/>
            </a:avLst>
          </a:prstGeom>
          <a:solidFill>
            <a:srgbClr val="16223A"/>
          </a:solidFill>
          <a:ln/>
          <a:effectLst>
            <a:outerShdw sx="100000" sy="100000" kx="0" ky="0" algn="bl" rotWithShape="0" blurRad="101600" dist="38100" dir="5400000">
              <a:srgbClr val="000000">
                <a:alpha val="35000"/>
              </a:srgbClr>
            </a:outerShdw>
          </a:effectLst>
        </p:spPr>
      </p:sp>
      <p:sp>
        <p:nvSpPr>
          <p:cNvPr id="8" name="Shape 6"/>
          <p:cNvSpPr/>
          <p:nvPr/>
        </p:nvSpPr>
        <p:spPr>
          <a:xfrm>
            <a:off x="594360" y="1325880"/>
            <a:ext cx="1737360" cy="2148840"/>
          </a:xfrm>
          <a:prstGeom prst="roundRect">
            <a:avLst>
              <a:gd name="adj" fmla="val 3158"/>
            </a:avLst>
          </a:prstGeom>
          <a:solidFill>
            <a:srgbClr val="1B2A45"/>
          </a:solidFill>
          <a:ln/>
        </p:spPr>
      </p:sp>
      <p:sp>
        <p:nvSpPr>
          <p:cNvPr id="9" name="Text 7"/>
          <p:cNvSpPr/>
          <p:nvPr/>
        </p:nvSpPr>
        <p:spPr>
          <a:xfrm>
            <a:off x="594360" y="1325880"/>
            <a:ext cx="1737360" cy="2148840"/>
          </a:xfrm>
          <a:prstGeom prst="rect">
            <a:avLst/>
          </a:prstGeom>
          <a:noFill/>
          <a:ln/>
        </p:spPr>
        <p:txBody>
          <a:bodyPr wrap="square" lIns="0" tIns="0" rIns="0" bIns="0" rtlCol="0" anchor="ctr"/>
          <a:lstStyle/>
          <a:p>
            <a:pPr algn="ctr" indent="0" marL="0">
              <a:buNone/>
            </a:pPr>
            <a:r>
              <a:rPr lang="en-US" sz="1000" dirty="0">
                <a:solidFill>
                  <a:srgbClr val="7DE8F7"/>
                </a:solidFill>
                <a:latin typeface="Calibri" pitchFamily="34" charset="0"/>
                <a:ea typeface="Calibri" pitchFamily="34" charset="-122"/>
                <a:cs typeface="Calibri" pitchFamily="34" charset="-120"/>
              </a:rPr>
              <a:t>Phase Timeline</a:t>
            </a:r>
            <a:endParaRPr lang="en-US" sz="1000" dirty="0"/>
          </a:p>
          <a:p>
            <a:pPr algn="ctr" indent="0" marL="0">
              <a:buNone/>
            </a:pPr>
            <a:r>
              <a:rPr lang="en-US" sz="1000" dirty="0">
                <a:solidFill>
                  <a:srgbClr val="7DE8F7"/>
                </a:solidFill>
                <a:latin typeface="Calibri" pitchFamily="34" charset="0"/>
                <a:ea typeface="Calibri" pitchFamily="34" charset="-122"/>
                <a:cs typeface="Calibri" pitchFamily="34" charset="-120"/>
              </a:rPr>
              <a:t>1–6</a:t>
            </a:r>
            <a:endParaRPr lang="en-US" sz="1000" dirty="0"/>
          </a:p>
        </p:txBody>
      </p:sp>
      <p:sp>
        <p:nvSpPr>
          <p:cNvPr id="10" name="Shape 8"/>
          <p:cNvSpPr/>
          <p:nvPr/>
        </p:nvSpPr>
        <p:spPr>
          <a:xfrm>
            <a:off x="2560320" y="1463040"/>
            <a:ext cx="1828800" cy="1828800"/>
          </a:xfrm>
          <a:prstGeom prst="ellipse">
            <a:avLst/>
          </a:prstGeom>
          <a:noFill/>
          <a:ln w="50800">
            <a:solidFill>
              <a:srgbClr val="22D3EE"/>
            </a:solidFill>
            <a:prstDash val="solid"/>
          </a:ln>
        </p:spPr>
      </p:sp>
      <p:sp>
        <p:nvSpPr>
          <p:cNvPr id="11" name="Text 9"/>
          <p:cNvSpPr/>
          <p:nvPr/>
        </p:nvSpPr>
        <p:spPr>
          <a:xfrm>
            <a:off x="2560320" y="1463040"/>
            <a:ext cx="1828800" cy="1828800"/>
          </a:xfrm>
          <a:prstGeom prst="rect">
            <a:avLst/>
          </a:prstGeom>
          <a:noFill/>
          <a:ln/>
        </p:spPr>
        <p:txBody>
          <a:bodyPr wrap="square" lIns="0" tIns="0" rIns="0" bIns="0" rtlCol="0" anchor="ctr"/>
          <a:lstStyle/>
          <a:p>
            <a:pPr algn="ctr" indent="0" marL="0">
              <a:buNone/>
            </a:pPr>
            <a:r>
              <a:rPr lang="en-US" sz="1400" b="1" dirty="0">
                <a:solidFill>
                  <a:srgbClr val="E6EAF2"/>
                </a:solidFill>
                <a:latin typeface="Arial" pitchFamily="34" charset="0"/>
                <a:ea typeface="Arial" pitchFamily="34" charset="-122"/>
                <a:cs typeface="Arial" pitchFamily="34" charset="-120"/>
              </a:rPr>
              <a:t>Score</a:t>
            </a:r>
            <a:endParaRPr lang="en-US" sz="1400" dirty="0"/>
          </a:p>
          <a:p>
            <a:pPr algn="ctr" indent="0" marL="0">
              <a:buNone/>
            </a:pPr>
            <a:r>
              <a:rPr lang="en-US" sz="1400" b="1" dirty="0">
                <a:solidFill>
                  <a:srgbClr val="E6EAF2"/>
                </a:solidFill>
                <a:latin typeface="Arial" pitchFamily="34" charset="0"/>
                <a:ea typeface="Arial" pitchFamily="34" charset="-122"/>
                <a:cs typeface="Arial" pitchFamily="34" charset="-120"/>
              </a:rPr>
              <a:t>Arc</a:t>
            </a:r>
            <a:endParaRPr lang="en-US" sz="1400" dirty="0"/>
          </a:p>
        </p:txBody>
      </p:sp>
      <p:sp>
        <p:nvSpPr>
          <p:cNvPr id="12" name="Shape 10"/>
          <p:cNvSpPr/>
          <p:nvPr/>
        </p:nvSpPr>
        <p:spPr>
          <a:xfrm>
            <a:off x="4663440" y="1325880"/>
            <a:ext cx="1828800" cy="868680"/>
          </a:xfrm>
          <a:prstGeom prst="roundRect">
            <a:avLst>
              <a:gd name="adj" fmla="val 6316"/>
            </a:avLst>
          </a:prstGeom>
          <a:solidFill>
            <a:srgbClr val="1B2A45"/>
          </a:solidFill>
          <a:ln/>
        </p:spPr>
      </p:sp>
      <p:sp>
        <p:nvSpPr>
          <p:cNvPr id="13" name="Text 11"/>
          <p:cNvSpPr/>
          <p:nvPr/>
        </p:nvSpPr>
        <p:spPr>
          <a:xfrm>
            <a:off x="4663440" y="1325880"/>
            <a:ext cx="1828800" cy="868680"/>
          </a:xfrm>
          <a:prstGeom prst="rect">
            <a:avLst/>
          </a:prstGeom>
          <a:noFill/>
          <a:ln/>
        </p:spPr>
        <p:txBody>
          <a:bodyPr wrap="square" lIns="0" tIns="0" rIns="0" bIns="0" rtlCol="0" anchor="ctr"/>
          <a:lstStyle/>
          <a:p>
            <a:pPr algn="ctr" indent="0" marL="0">
              <a:buNone/>
            </a:pPr>
            <a:r>
              <a:rPr lang="en-US" sz="950" dirty="0">
                <a:solidFill>
                  <a:srgbClr val="34D399"/>
                </a:solidFill>
                <a:latin typeface="Calibri" pitchFamily="34" charset="0"/>
                <a:ea typeface="Calibri" pitchFamily="34" charset="-122"/>
                <a:cs typeface="Calibri" pitchFamily="34" charset="-120"/>
              </a:rPr>
              <a:t>Resolved Items</a:t>
            </a:r>
            <a:endParaRPr lang="en-US" sz="950" dirty="0"/>
          </a:p>
        </p:txBody>
      </p:sp>
      <p:sp>
        <p:nvSpPr>
          <p:cNvPr id="14" name="Shape 12"/>
          <p:cNvSpPr/>
          <p:nvPr/>
        </p:nvSpPr>
        <p:spPr>
          <a:xfrm>
            <a:off x="4663440" y="2286000"/>
            <a:ext cx="1828800" cy="868680"/>
          </a:xfrm>
          <a:prstGeom prst="roundRect">
            <a:avLst>
              <a:gd name="adj" fmla="val 6316"/>
            </a:avLst>
          </a:prstGeom>
          <a:solidFill>
            <a:srgbClr val="1B2A45"/>
          </a:solidFill>
          <a:ln/>
        </p:spPr>
      </p:sp>
      <p:sp>
        <p:nvSpPr>
          <p:cNvPr id="15" name="Text 13"/>
          <p:cNvSpPr/>
          <p:nvPr/>
        </p:nvSpPr>
        <p:spPr>
          <a:xfrm>
            <a:off x="4663440" y="2286000"/>
            <a:ext cx="1828800" cy="868680"/>
          </a:xfrm>
          <a:prstGeom prst="rect">
            <a:avLst/>
          </a:prstGeom>
          <a:noFill/>
          <a:ln/>
        </p:spPr>
        <p:txBody>
          <a:bodyPr wrap="square" lIns="0" tIns="0" rIns="0" bIns="0" rtlCol="0" anchor="ctr"/>
          <a:lstStyle/>
          <a:p>
            <a:pPr algn="ctr" indent="0" marL="0">
              <a:buNone/>
            </a:pPr>
            <a:r>
              <a:rPr lang="en-US" sz="950" dirty="0">
                <a:solidFill>
                  <a:srgbClr val="F2675A"/>
                </a:solidFill>
                <a:latin typeface="Calibri" pitchFamily="34" charset="0"/>
                <a:ea typeface="Calibri" pitchFamily="34" charset="-122"/>
                <a:cs typeface="Calibri" pitchFamily="34" charset="-120"/>
              </a:rPr>
              <a:t>Unresolved Items</a:t>
            </a:r>
            <a:endParaRPr lang="en-US" sz="950" dirty="0"/>
          </a:p>
        </p:txBody>
      </p:sp>
      <p:sp>
        <p:nvSpPr>
          <p:cNvPr id="16" name="Shape 14"/>
          <p:cNvSpPr/>
          <p:nvPr/>
        </p:nvSpPr>
        <p:spPr>
          <a:xfrm>
            <a:off x="6629400" y="1325880"/>
            <a:ext cx="1920240" cy="1828800"/>
          </a:xfrm>
          <a:prstGeom prst="roundRect">
            <a:avLst>
              <a:gd name="adj" fmla="val 3000"/>
            </a:avLst>
          </a:prstGeom>
          <a:solidFill>
            <a:srgbClr val="1B2A45"/>
          </a:solidFill>
          <a:ln/>
        </p:spPr>
      </p:sp>
      <p:sp>
        <p:nvSpPr>
          <p:cNvPr id="17" name="Text 15"/>
          <p:cNvSpPr/>
          <p:nvPr/>
        </p:nvSpPr>
        <p:spPr>
          <a:xfrm>
            <a:off x="6629400" y="1325880"/>
            <a:ext cx="1920240" cy="1828800"/>
          </a:xfrm>
          <a:prstGeom prst="rect">
            <a:avLst/>
          </a:prstGeom>
          <a:noFill/>
          <a:ln/>
        </p:spPr>
        <p:txBody>
          <a:bodyPr wrap="square" lIns="0" tIns="0" rIns="0" bIns="0" rtlCol="0" anchor="ctr"/>
          <a:lstStyle/>
          <a:p>
            <a:pPr algn="ctr" indent="0" marL="0">
              <a:buNone/>
            </a:pPr>
            <a:r>
              <a:rPr lang="en-US" sz="950" dirty="0">
                <a:solidFill>
                  <a:srgbClr val="7DE8F7"/>
                </a:solidFill>
                <a:latin typeface="Calibri" pitchFamily="34" charset="0"/>
                <a:ea typeface="Calibri" pitchFamily="34" charset="-122"/>
                <a:cs typeface="Calibri" pitchFamily="34" charset="-120"/>
              </a:rPr>
              <a:t>Hash Verification</a:t>
            </a:r>
            <a:endParaRPr lang="en-US" sz="950" dirty="0"/>
          </a:p>
        </p:txBody>
      </p:sp>
      <p:sp>
        <p:nvSpPr>
          <p:cNvPr id="18" name="Shape 16"/>
          <p:cNvSpPr/>
          <p:nvPr/>
        </p:nvSpPr>
        <p:spPr>
          <a:xfrm>
            <a:off x="594360" y="3547872"/>
            <a:ext cx="7955280" cy="274320"/>
          </a:xfrm>
          <a:prstGeom prst="roundRect">
            <a:avLst>
              <a:gd name="adj" fmla="val 13333"/>
            </a:avLst>
          </a:prstGeom>
          <a:solidFill>
            <a:srgbClr val="0B1220"/>
          </a:solidFill>
          <a:ln/>
        </p:spPr>
      </p:sp>
      <p:sp>
        <p:nvSpPr>
          <p:cNvPr id="19" name="Text 17"/>
          <p:cNvSpPr/>
          <p:nvPr/>
        </p:nvSpPr>
        <p:spPr>
          <a:xfrm>
            <a:off x="731520" y="3547872"/>
            <a:ext cx="7680960" cy="274320"/>
          </a:xfrm>
          <a:prstGeom prst="rect">
            <a:avLst/>
          </a:prstGeom>
          <a:noFill/>
          <a:ln/>
        </p:spPr>
        <p:txBody>
          <a:bodyPr wrap="square" lIns="0" tIns="0" rIns="0" bIns="0" rtlCol="0" anchor="ctr"/>
          <a:lstStyle/>
          <a:p>
            <a:pPr indent="0" marL="0">
              <a:buNone/>
            </a:pPr>
            <a:r>
              <a:rPr lang="en-US" sz="850" dirty="0">
                <a:solidFill>
                  <a:srgbClr val="8B96AC"/>
                </a:solidFill>
                <a:latin typeface="Courier New" pitchFamily="34" charset="0"/>
                <a:ea typeface="Courier New" pitchFamily="34" charset="-122"/>
                <a:cs typeface="Courier New" pitchFamily="34" charset="-120"/>
              </a:rPr>
              <a:t>Live Logs — phase execution, scores, hash checks</a:t>
            </a:r>
            <a:endParaRPr lang="en-US" sz="850" dirty="0"/>
          </a:p>
        </p:txBody>
      </p:sp>
      <p:sp>
        <p:nvSpPr>
          <p:cNvPr id="20" name="Text 18"/>
          <p:cNvSpPr/>
          <p:nvPr/>
        </p:nvSpPr>
        <p:spPr>
          <a:xfrm>
            <a:off x="457200" y="4069080"/>
            <a:ext cx="8229600" cy="320040"/>
          </a:xfrm>
          <a:prstGeom prst="rect">
            <a:avLst/>
          </a:prstGeom>
          <a:noFill/>
          <a:ln/>
        </p:spPr>
        <p:txBody>
          <a:bodyPr wrap="square" lIns="0" tIns="0" rIns="0" bIns="0" rtlCol="0" anchor="ctr"/>
          <a:lstStyle/>
          <a:p>
            <a:pPr algn="ctr" indent="0" marL="0">
              <a:buNone/>
            </a:pPr>
            <a:r>
              <a:rPr lang="en-US" sz="1000" i="1" dirty="0">
                <a:solidFill>
                  <a:srgbClr val="8B96AC"/>
                </a:solidFill>
                <a:latin typeface="Calibri" pitchFamily="34" charset="0"/>
                <a:ea typeface="Calibri" pitchFamily="34" charset="-122"/>
                <a:cs typeface="Calibri" pitchFamily="34" charset="-120"/>
              </a:rPr>
              <a:t>Key metrics: Final Score · Resolved/Unresolved Counts · Execution Duration (ms) · Hash Chain Status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274320" y="128016"/>
            <a:ext cx="146304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Arial" pitchFamily="34" charset="0"/>
                <a:ea typeface="Arial" pitchFamily="34" charset="-122"/>
                <a:cs typeface="Arial" pitchFamily="34" charset="-120"/>
              </a:rPr>
              <a:t>UiPath</a:t>
            </a:r>
            <a:endParaRPr lang="en-US" sz="1100" dirty="0"/>
          </a:p>
        </p:txBody>
      </p:sp>
      <p:sp>
        <p:nvSpPr>
          <p:cNvPr id="3" name="Text 1"/>
          <p:cNvSpPr/>
          <p:nvPr/>
        </p:nvSpPr>
        <p:spPr>
          <a:xfrm>
            <a:off x="5212080" y="91440"/>
            <a:ext cx="3657600" cy="411480"/>
          </a:xfrm>
          <a:prstGeom prst="rect">
            <a:avLst/>
          </a:prstGeom>
          <a:noFill/>
          <a:ln/>
        </p:spPr>
        <p:txBody>
          <a:bodyPr wrap="square" lIns="0" tIns="0" rIns="0" bIns="0" rtlCol="0" anchor="ctr"/>
          <a:lstStyle/>
          <a:p>
            <a:pPr algn="r" indent="0" marL="0">
              <a:lnSpc>
                <a:spcPct val="110000"/>
              </a:lnSpc>
              <a:buNone/>
            </a:pPr>
            <a:r>
              <a:rPr lang="en-US" sz="750" b="1" dirty="0">
                <a:solidFill>
                  <a:srgbClr val="22D3EE"/>
                </a:solidFill>
                <a:latin typeface="Calibri" pitchFamily="34" charset="0"/>
                <a:ea typeface="Calibri" pitchFamily="34" charset="-122"/>
                <a:cs typeface="Calibri" pitchFamily="34" charset="-120"/>
              </a:rPr>
              <a:t>UiPath AgentHack</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Track 2 — Maestro Orchestrator</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Team: The OneShot  ·  Author: Minh Le</a:t>
            </a:r>
            <a:endParaRPr lang="en-US" sz="750" dirty="0"/>
          </a:p>
        </p:txBody>
      </p:sp>
      <p:sp>
        <p:nvSpPr>
          <p:cNvPr id="4" name="Text 2"/>
          <p:cNvSpPr/>
          <p:nvPr/>
        </p:nvSpPr>
        <p:spPr>
          <a:xfrm>
            <a:off x="274320" y="4882896"/>
            <a:ext cx="3840480" cy="201168"/>
          </a:xfrm>
          <a:prstGeom prst="rect">
            <a:avLst/>
          </a:prstGeom>
          <a:noFill/>
          <a:ln/>
        </p:spPr>
        <p:txBody>
          <a:bodyPr wrap="square" lIns="0" tIns="0" rIns="0" bIns="0" rtlCol="0" anchor="ctr"/>
          <a:lstStyle/>
          <a:p>
            <a:pPr algn="l" indent="0" marL="0">
              <a:buNone/>
            </a:pPr>
            <a:r>
              <a:rPr lang="en-US" sz="700" dirty="0">
                <a:solidFill>
                  <a:srgbClr val="5C6680"/>
                </a:solidFill>
                <a:latin typeface="Calibri" pitchFamily="34" charset="0"/>
                <a:ea typeface="Calibri" pitchFamily="34" charset="-122"/>
                <a:cs typeface="Calibri" pitchFamily="34" charset="-120"/>
              </a:rPr>
              <a:t>Apache License 2.0   ·   © 2026 The OneShot</a:t>
            </a:r>
            <a:endParaRPr lang="en-US" sz="700" dirty="0"/>
          </a:p>
        </p:txBody>
      </p:sp>
      <p:sp>
        <p:nvSpPr>
          <p:cNvPr id="5" name="Text 3"/>
          <p:cNvSpPr/>
          <p:nvPr/>
        </p:nvSpPr>
        <p:spPr>
          <a:xfrm>
            <a:off x="3657600" y="4846320"/>
            <a:ext cx="5212080" cy="274320"/>
          </a:xfrm>
          <a:prstGeom prst="rect">
            <a:avLst/>
          </a:prstGeom>
          <a:noFill/>
          <a:ln/>
        </p:spPr>
        <p:txBody>
          <a:bodyPr wrap="square" lIns="0" tIns="0" rIns="0" bIns="0" rtlCol="0" anchor="ctr"/>
          <a:lstStyle/>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Builders: Kiro, Codex   ·   Agent Helpers: Qwen, ChatGPT, Claude, Mistral</a:t>
            </a:r>
            <a:endParaRPr lang="en-US" sz="650" dirty="0"/>
          </a:p>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Garbage: Auto Pilot (GitHub)</a:t>
            </a:r>
            <a:endParaRPr lang="en-US" sz="650" dirty="0"/>
          </a:p>
        </p:txBody>
      </p:sp>
      <p:sp>
        <p:nvSpPr>
          <p:cNvPr id="6" name="Text 4"/>
          <p:cNvSpPr/>
          <p:nvPr/>
        </p:nvSpPr>
        <p:spPr>
          <a:xfrm>
            <a:off x="457200" y="548640"/>
            <a:ext cx="8229600" cy="502920"/>
          </a:xfrm>
          <a:prstGeom prst="rect">
            <a:avLst/>
          </a:prstGeom>
          <a:noFill/>
          <a:ln/>
        </p:spPr>
        <p:txBody>
          <a:bodyPr wrap="square" lIns="0" tIns="0" rIns="0" bIns="0" rtlCol="0" anchor="ctr"/>
          <a:lstStyle/>
          <a:p>
            <a:pPr indent="0" marL="0">
              <a:buNone/>
            </a:pPr>
            <a:r>
              <a:rPr lang="en-US" sz="2300" b="1" dirty="0">
                <a:solidFill>
                  <a:srgbClr val="E6EAF2"/>
                </a:solidFill>
                <a:latin typeface="Arial" pitchFamily="34" charset="0"/>
                <a:ea typeface="Arial" pitchFamily="34" charset="-122"/>
                <a:cs typeface="Arial" pitchFamily="34" charset="-120"/>
              </a:rPr>
              <a:t>The Real Impact: Confidence, Auditability, Speed</a:t>
            </a:r>
            <a:endParaRPr lang="en-US" sz="2300" dirty="0"/>
          </a:p>
        </p:txBody>
      </p:sp>
      <p:sp>
        <p:nvSpPr>
          <p:cNvPr id="7" name="Shape 5"/>
          <p:cNvSpPr/>
          <p:nvPr/>
        </p:nvSpPr>
        <p:spPr>
          <a:xfrm>
            <a:off x="457200" y="1188720"/>
            <a:ext cx="3931920" cy="1874520"/>
          </a:xfrm>
          <a:prstGeom prst="roundRect">
            <a:avLst>
              <a:gd name="adj" fmla="val 3902"/>
            </a:avLst>
          </a:prstGeom>
          <a:solidFill>
            <a:srgbClr val="121C30"/>
          </a:solidFill>
          <a:ln/>
          <a:effectLst>
            <a:outerShdw sx="100000" sy="100000" kx="0" ky="0" algn="bl" rotWithShape="0" blurRad="101600" dist="38100" dir="5400000">
              <a:srgbClr val="000000">
                <a:alpha val="35000"/>
              </a:srgbClr>
            </a:outerShdw>
          </a:effectLst>
        </p:spPr>
      </p:sp>
      <p:sp>
        <p:nvSpPr>
          <p:cNvPr id="8" name="Shape 6"/>
          <p:cNvSpPr/>
          <p:nvPr/>
        </p:nvSpPr>
        <p:spPr>
          <a:xfrm>
            <a:off x="731520" y="1444752"/>
            <a:ext cx="457200" cy="457200"/>
          </a:xfrm>
          <a:prstGeom prst="ellipse">
            <a:avLst/>
          </a:prstGeom>
          <a:solidFill>
            <a:srgbClr val="22D3EE"/>
          </a:solidFill>
          <a:ln/>
        </p:spPr>
      </p:sp>
      <p:pic>
        <p:nvPicPr>
          <p:cNvPr id="9" name="Image 0" descr="preencoded.png">    </p:cNvPr>
          <p:cNvPicPr>
            <a:picLocks noChangeAspect="1"/>
          </p:cNvPicPr>
          <p:nvPr/>
        </p:nvPicPr>
        <p:blipFill>
          <a:blip r:embed="rId1"/>
          <a:stretch>
            <a:fillRect/>
          </a:stretch>
        </p:blipFill>
        <p:spPr>
          <a:xfrm>
            <a:off x="850392" y="1563624"/>
            <a:ext cx="219456" cy="219456"/>
          </a:xfrm>
          <a:prstGeom prst="rect">
            <a:avLst/>
          </a:prstGeom>
        </p:spPr>
      </p:pic>
      <p:sp>
        <p:nvSpPr>
          <p:cNvPr id="10" name="Text 7"/>
          <p:cNvSpPr/>
          <p:nvPr/>
        </p:nvSpPr>
        <p:spPr>
          <a:xfrm>
            <a:off x="1325880" y="1444752"/>
            <a:ext cx="2926080" cy="457200"/>
          </a:xfrm>
          <a:prstGeom prst="rect">
            <a:avLst/>
          </a:prstGeom>
          <a:noFill/>
          <a:ln/>
        </p:spPr>
        <p:txBody>
          <a:bodyPr wrap="square" lIns="0" tIns="0" rIns="0" bIns="0" rtlCol="0" anchor="ctr"/>
          <a:lstStyle/>
          <a:p>
            <a:pPr indent="0" marL="0">
              <a:buNone/>
            </a:pPr>
            <a:r>
              <a:rPr lang="en-US" sz="1400" b="1" dirty="0">
                <a:solidFill>
                  <a:srgbClr val="E6EAF2"/>
                </a:solidFill>
                <a:latin typeface="Arial" pitchFamily="34" charset="0"/>
                <a:ea typeface="Arial" pitchFamily="34" charset="-122"/>
                <a:cs typeface="Arial" pitchFamily="34" charset="-120"/>
              </a:rPr>
              <a:t>For Development Teams</a:t>
            </a:r>
            <a:endParaRPr lang="en-US" sz="1400" dirty="0"/>
          </a:p>
        </p:txBody>
      </p:sp>
      <p:sp>
        <p:nvSpPr>
          <p:cNvPr id="11" name="Text 8"/>
          <p:cNvSpPr/>
          <p:nvPr/>
        </p:nvSpPr>
        <p:spPr>
          <a:xfrm>
            <a:off x="731520" y="2057400"/>
            <a:ext cx="3383280" cy="8686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Fewer bugs in production</a:t>
            </a:r>
            <a:endParaRPr lang="en-US" sz="1100" dirty="0"/>
          </a:p>
          <a:p>
            <a:pPr marL="342900" indent="-342900">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Faster iteration — no crisis-mode debugging</a:t>
            </a:r>
            <a:endParaRPr lang="en-US" sz="1100" dirty="0"/>
          </a:p>
          <a:p>
            <a:pPr marL="342900" indent="-342900">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Complete auditability of every change</a:t>
            </a:r>
            <a:endParaRPr lang="en-US" sz="1100" dirty="0"/>
          </a:p>
        </p:txBody>
      </p:sp>
      <p:sp>
        <p:nvSpPr>
          <p:cNvPr id="12" name="Shape 9"/>
          <p:cNvSpPr/>
          <p:nvPr/>
        </p:nvSpPr>
        <p:spPr>
          <a:xfrm>
            <a:off x="4663440" y="1188720"/>
            <a:ext cx="3931920" cy="1874520"/>
          </a:xfrm>
          <a:prstGeom prst="roundRect">
            <a:avLst>
              <a:gd name="adj" fmla="val 3902"/>
            </a:avLst>
          </a:prstGeom>
          <a:solidFill>
            <a:srgbClr val="121C30"/>
          </a:solidFill>
          <a:ln/>
          <a:effectLst>
            <a:outerShdw sx="100000" sy="100000" kx="0" ky="0" algn="bl" rotWithShape="0" blurRad="101600" dist="38100" dir="5400000">
              <a:srgbClr val="000000">
                <a:alpha val="35000"/>
              </a:srgbClr>
            </a:outerShdw>
          </a:effectLst>
        </p:spPr>
      </p:sp>
      <p:sp>
        <p:nvSpPr>
          <p:cNvPr id="13" name="Shape 10"/>
          <p:cNvSpPr/>
          <p:nvPr/>
        </p:nvSpPr>
        <p:spPr>
          <a:xfrm>
            <a:off x="4937760" y="1444752"/>
            <a:ext cx="457200" cy="457200"/>
          </a:xfrm>
          <a:prstGeom prst="ellipse">
            <a:avLst/>
          </a:prstGeom>
          <a:solidFill>
            <a:srgbClr val="22D3EE"/>
          </a:solidFill>
          <a:ln/>
        </p:spPr>
      </p:sp>
      <p:pic>
        <p:nvPicPr>
          <p:cNvPr id="14" name="Image 1" descr="preencoded.png">    </p:cNvPr>
          <p:cNvPicPr>
            <a:picLocks noChangeAspect="1"/>
          </p:cNvPicPr>
          <p:nvPr/>
        </p:nvPicPr>
        <p:blipFill>
          <a:blip r:embed="rId2"/>
          <a:stretch>
            <a:fillRect/>
          </a:stretch>
        </p:blipFill>
        <p:spPr>
          <a:xfrm>
            <a:off x="5056632" y="1563624"/>
            <a:ext cx="219456" cy="219456"/>
          </a:xfrm>
          <a:prstGeom prst="rect">
            <a:avLst/>
          </a:prstGeom>
        </p:spPr>
      </p:pic>
      <p:sp>
        <p:nvSpPr>
          <p:cNvPr id="15" name="Text 11"/>
          <p:cNvSpPr/>
          <p:nvPr/>
        </p:nvSpPr>
        <p:spPr>
          <a:xfrm>
            <a:off x="5532120" y="1444752"/>
            <a:ext cx="2926080" cy="457200"/>
          </a:xfrm>
          <a:prstGeom prst="rect">
            <a:avLst/>
          </a:prstGeom>
          <a:noFill/>
          <a:ln/>
        </p:spPr>
        <p:txBody>
          <a:bodyPr wrap="square" lIns="0" tIns="0" rIns="0" bIns="0" rtlCol="0" anchor="ctr"/>
          <a:lstStyle/>
          <a:p>
            <a:pPr indent="0" marL="0">
              <a:buNone/>
            </a:pPr>
            <a:r>
              <a:rPr lang="en-US" sz="1400" b="1" dirty="0">
                <a:solidFill>
                  <a:srgbClr val="E6EAF2"/>
                </a:solidFill>
                <a:latin typeface="Arial" pitchFamily="34" charset="0"/>
                <a:ea typeface="Arial" pitchFamily="34" charset="-122"/>
                <a:cs typeface="Arial" pitchFamily="34" charset="-120"/>
              </a:rPr>
              <a:t>For Enterprises</a:t>
            </a:r>
            <a:endParaRPr lang="en-US" sz="1400" dirty="0"/>
          </a:p>
        </p:txBody>
      </p:sp>
      <p:sp>
        <p:nvSpPr>
          <p:cNvPr id="16" name="Text 12"/>
          <p:cNvSpPr/>
          <p:nvPr/>
        </p:nvSpPr>
        <p:spPr>
          <a:xfrm>
            <a:off x="4937760" y="2057400"/>
            <a:ext cx="3383280" cy="8686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Compliance ready — full documentation</a:t>
            </a:r>
            <a:endParaRPr lang="en-US" sz="1100" dirty="0"/>
          </a:p>
          <a:p>
            <a:pPr marL="342900" indent="-342900">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Risk reduction — verify before applying</a:t>
            </a:r>
            <a:endParaRPr lang="en-US" sz="1100" dirty="0"/>
          </a:p>
          <a:p>
            <a:pPr marL="342900" indent="-342900">
              <a:spcAft>
                <a:spcPts val="800"/>
              </a:spcAft>
              <a:buSzPct val="100000"/>
              <a:buChar char="•"/>
            </a:pPr>
            <a:r>
              <a:rPr lang="en-US" sz="1100" dirty="0">
                <a:solidFill>
                  <a:srgbClr val="8B96AC"/>
                </a:solidFill>
                <a:latin typeface="Calibri" pitchFamily="34" charset="0"/>
                <a:ea typeface="Calibri" pitchFamily="34" charset="-122"/>
                <a:cs typeface="Calibri" pitchFamily="34" charset="-120"/>
              </a:rPr>
              <a:t>Confidence in automation</a:t>
            </a:r>
            <a:endParaRPr lang="en-US" sz="1100" dirty="0"/>
          </a:p>
        </p:txBody>
      </p:sp>
      <p:sp>
        <p:nvSpPr>
          <p:cNvPr id="17" name="Shape 13"/>
          <p:cNvSpPr/>
          <p:nvPr/>
        </p:nvSpPr>
        <p:spPr>
          <a:xfrm>
            <a:off x="457200" y="3337560"/>
            <a:ext cx="8229600" cy="1417320"/>
          </a:xfrm>
          <a:prstGeom prst="roundRect">
            <a:avLst>
              <a:gd name="adj" fmla="val 5161"/>
            </a:avLst>
          </a:prstGeom>
          <a:solidFill>
            <a:srgbClr val="16223A"/>
          </a:solidFill>
          <a:ln/>
          <a:effectLst>
            <a:outerShdw sx="100000" sy="100000" kx="0" ky="0" algn="bl" rotWithShape="0" blurRad="101600" dist="38100" dir="5400000">
              <a:srgbClr val="000000">
                <a:alpha val="35000"/>
              </a:srgbClr>
            </a:outerShdw>
          </a:effectLst>
        </p:spPr>
      </p:sp>
      <p:sp>
        <p:nvSpPr>
          <p:cNvPr id="18" name="Text 14"/>
          <p:cNvSpPr/>
          <p:nvPr/>
        </p:nvSpPr>
        <p:spPr>
          <a:xfrm>
            <a:off x="685800" y="3447288"/>
            <a:ext cx="7772400" cy="292608"/>
          </a:xfrm>
          <a:prstGeom prst="rect">
            <a:avLst/>
          </a:prstGeom>
          <a:noFill/>
          <a:ln/>
        </p:spPr>
        <p:txBody>
          <a:bodyPr wrap="square" lIns="0" tIns="0" rIns="0" bIns="0" rtlCol="0" anchor="ctr"/>
          <a:lstStyle/>
          <a:p>
            <a:pPr indent="0" marL="0">
              <a:buNone/>
            </a:pPr>
            <a:r>
              <a:rPr lang="en-US" sz="1250" b="1" dirty="0">
                <a:solidFill>
                  <a:srgbClr val="7DE8F7"/>
                </a:solidFill>
                <a:latin typeface="Arial" pitchFamily="34" charset="0"/>
                <a:ea typeface="Arial" pitchFamily="34" charset="-122"/>
                <a:cs typeface="Arial" pitchFamily="34" charset="-120"/>
              </a:rPr>
              <a:t>The Fundamental Shift</a:t>
            </a:r>
            <a:endParaRPr lang="en-US" sz="1250" dirty="0"/>
          </a:p>
        </p:txBody>
      </p:sp>
      <p:sp>
        <p:nvSpPr>
          <p:cNvPr id="19" name="Text 15"/>
          <p:cNvSpPr/>
          <p:nvPr/>
        </p:nvSpPr>
        <p:spPr>
          <a:xfrm>
            <a:off x="685800" y="3794760"/>
            <a:ext cx="7772400" cy="365760"/>
          </a:xfrm>
          <a:prstGeom prst="rect">
            <a:avLst/>
          </a:prstGeom>
          <a:noFill/>
          <a:ln/>
        </p:spPr>
        <p:txBody>
          <a:bodyPr wrap="square" lIns="0" tIns="0" rIns="0" bIns="0" rtlCol="0" anchor="ctr"/>
          <a:lstStyle/>
          <a:p>
            <a:pPr indent="0" marL="0">
              <a:buNone/>
            </a:pPr>
            <a:r>
              <a:rPr lang="en-US" sz="1200" b="1" dirty="0">
                <a:solidFill>
                  <a:srgbClr val="F2675A"/>
                </a:solidFill>
                <a:latin typeface="Courier New" pitchFamily="34" charset="0"/>
                <a:ea typeface="Courier New" pitchFamily="34" charset="-122"/>
                <a:cs typeface="Courier New" pitchFamily="34" charset="-120"/>
              </a:rPr>
              <a:t>Traditional:  </a:t>
            </a:r>
            <a:pPr indent="0" marL="0">
              <a:buNone/>
            </a:pPr>
            <a:r>
              <a:rPr lang="en-US" sz="1200" dirty="0">
                <a:solidFill>
                  <a:srgbClr val="8B96AC"/>
                </a:solidFill>
                <a:latin typeface="Courier New" pitchFamily="34" charset="0"/>
                <a:ea typeface="Courier New" pitchFamily="34" charset="-122"/>
                <a:cs typeface="Courier New" pitchFamily="34" charset="-120"/>
              </a:rPr>
              <a:t>Fix → Deploy → Hope → Debug</a:t>
            </a:r>
            <a:endParaRPr lang="en-US" sz="1200" dirty="0"/>
          </a:p>
        </p:txBody>
      </p:sp>
      <p:sp>
        <p:nvSpPr>
          <p:cNvPr id="20" name="Text 16"/>
          <p:cNvSpPr/>
          <p:nvPr/>
        </p:nvSpPr>
        <p:spPr>
          <a:xfrm>
            <a:off x="685800" y="4206240"/>
            <a:ext cx="7772400" cy="365760"/>
          </a:xfrm>
          <a:prstGeom prst="rect">
            <a:avLst/>
          </a:prstGeom>
          <a:noFill/>
          <a:ln/>
        </p:spPr>
        <p:txBody>
          <a:bodyPr wrap="square" lIns="0" tIns="0" rIns="0" bIns="0" rtlCol="0" anchor="ctr"/>
          <a:lstStyle/>
          <a:p>
            <a:pPr indent="0" marL="0">
              <a:buNone/>
            </a:pPr>
            <a:r>
              <a:rPr lang="en-US" sz="1200" b="1" dirty="0">
                <a:solidFill>
                  <a:srgbClr val="34D399"/>
                </a:solidFill>
                <a:latin typeface="Courier New" pitchFamily="34" charset="0"/>
                <a:ea typeface="Courier New" pitchFamily="34" charset="-122"/>
                <a:cs typeface="Courier New" pitchFamily="34" charset="-120"/>
              </a:rPr>
              <a:t>NextFlow:  </a:t>
            </a:r>
            <a:pPr indent="0" marL="0">
              <a:buNone/>
            </a:pPr>
            <a:r>
              <a:rPr lang="en-US" sz="1200" dirty="0">
                <a:solidFill>
                  <a:srgbClr val="E6EAF2"/>
                </a:solidFill>
                <a:latin typeface="Courier New" pitchFamily="34" charset="0"/>
                <a:ea typeface="Courier New" pitchFamily="34" charset="-122"/>
                <a:cs typeface="Courier New" pitchFamily="34" charset="-120"/>
              </a:rPr>
              <a:t>Scan → Simulate → Verify → Apply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274320" y="128016"/>
            <a:ext cx="1463040" cy="256032"/>
          </a:xfrm>
          <a:prstGeom prst="rect">
            <a:avLst/>
          </a:prstGeom>
          <a:noFill/>
          <a:ln/>
        </p:spPr>
        <p:txBody>
          <a:bodyPr wrap="square" lIns="0" tIns="0" rIns="0" bIns="0" rtlCol="0" anchor="ctr"/>
          <a:lstStyle/>
          <a:p>
            <a:pPr algn="l" indent="0" marL="0">
              <a:buNone/>
            </a:pPr>
            <a:r>
              <a:rPr lang="en-US" sz="1100" b="1" dirty="0">
                <a:solidFill>
                  <a:srgbClr val="22D3EE"/>
                </a:solidFill>
                <a:latin typeface="Arial" pitchFamily="34" charset="0"/>
                <a:ea typeface="Arial" pitchFamily="34" charset="-122"/>
                <a:cs typeface="Arial" pitchFamily="34" charset="-120"/>
              </a:rPr>
              <a:t>UiPath</a:t>
            </a:r>
            <a:endParaRPr lang="en-US" sz="1100" dirty="0"/>
          </a:p>
        </p:txBody>
      </p:sp>
      <p:sp>
        <p:nvSpPr>
          <p:cNvPr id="3" name="Text 1"/>
          <p:cNvSpPr/>
          <p:nvPr/>
        </p:nvSpPr>
        <p:spPr>
          <a:xfrm>
            <a:off x="5212080" y="91440"/>
            <a:ext cx="3657600" cy="411480"/>
          </a:xfrm>
          <a:prstGeom prst="rect">
            <a:avLst/>
          </a:prstGeom>
          <a:noFill/>
          <a:ln/>
        </p:spPr>
        <p:txBody>
          <a:bodyPr wrap="square" lIns="0" tIns="0" rIns="0" bIns="0" rtlCol="0" anchor="ctr"/>
          <a:lstStyle/>
          <a:p>
            <a:pPr algn="r" indent="0" marL="0">
              <a:lnSpc>
                <a:spcPct val="110000"/>
              </a:lnSpc>
              <a:buNone/>
            </a:pPr>
            <a:r>
              <a:rPr lang="en-US" sz="750" b="1" dirty="0">
                <a:solidFill>
                  <a:srgbClr val="22D3EE"/>
                </a:solidFill>
                <a:latin typeface="Calibri" pitchFamily="34" charset="0"/>
                <a:ea typeface="Calibri" pitchFamily="34" charset="-122"/>
                <a:cs typeface="Calibri" pitchFamily="34" charset="-120"/>
              </a:rPr>
              <a:t>UiPath AgentHack</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Track 2 — Maestro Orchestrator</a:t>
            </a:r>
            <a:endParaRPr lang="en-US" sz="750" dirty="0"/>
          </a:p>
          <a:p>
            <a:pPr algn="r" indent="0" marL="0">
              <a:lnSpc>
                <a:spcPct val="110000"/>
              </a:lnSpc>
              <a:buNone/>
            </a:pPr>
            <a:r>
              <a:rPr lang="en-US" sz="750" dirty="0">
                <a:solidFill>
                  <a:srgbClr val="8B96AC"/>
                </a:solidFill>
                <a:latin typeface="Calibri" pitchFamily="34" charset="0"/>
                <a:ea typeface="Calibri" pitchFamily="34" charset="-122"/>
                <a:cs typeface="Calibri" pitchFamily="34" charset="-120"/>
              </a:rPr>
              <a:t>Team: The OneShot  ·  Author: Minh Le</a:t>
            </a:r>
            <a:endParaRPr lang="en-US" sz="750" dirty="0"/>
          </a:p>
        </p:txBody>
      </p:sp>
      <p:sp>
        <p:nvSpPr>
          <p:cNvPr id="4" name="Text 2"/>
          <p:cNvSpPr/>
          <p:nvPr/>
        </p:nvSpPr>
        <p:spPr>
          <a:xfrm>
            <a:off x="274320" y="4882896"/>
            <a:ext cx="3840480" cy="201168"/>
          </a:xfrm>
          <a:prstGeom prst="rect">
            <a:avLst/>
          </a:prstGeom>
          <a:noFill/>
          <a:ln/>
        </p:spPr>
        <p:txBody>
          <a:bodyPr wrap="square" lIns="0" tIns="0" rIns="0" bIns="0" rtlCol="0" anchor="ctr"/>
          <a:lstStyle/>
          <a:p>
            <a:pPr algn="l" indent="0" marL="0">
              <a:buNone/>
            </a:pPr>
            <a:r>
              <a:rPr lang="en-US" sz="700" dirty="0">
                <a:solidFill>
                  <a:srgbClr val="5C6680"/>
                </a:solidFill>
                <a:latin typeface="Calibri" pitchFamily="34" charset="0"/>
                <a:ea typeface="Calibri" pitchFamily="34" charset="-122"/>
                <a:cs typeface="Calibri" pitchFamily="34" charset="-120"/>
              </a:rPr>
              <a:t>Apache License 2.0   ·   © 2026 The OneShot</a:t>
            </a:r>
            <a:endParaRPr lang="en-US" sz="700" dirty="0"/>
          </a:p>
        </p:txBody>
      </p:sp>
      <p:sp>
        <p:nvSpPr>
          <p:cNvPr id="5" name="Text 3"/>
          <p:cNvSpPr/>
          <p:nvPr/>
        </p:nvSpPr>
        <p:spPr>
          <a:xfrm>
            <a:off x="3657600" y="4846320"/>
            <a:ext cx="5212080" cy="274320"/>
          </a:xfrm>
          <a:prstGeom prst="rect">
            <a:avLst/>
          </a:prstGeom>
          <a:noFill/>
          <a:ln/>
        </p:spPr>
        <p:txBody>
          <a:bodyPr wrap="square" lIns="0" tIns="0" rIns="0" bIns="0" rtlCol="0" anchor="ctr"/>
          <a:lstStyle/>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Builders: Kiro, Codex   ·   Agent Helpers: Qwen, ChatGPT, Claude, Mistral</a:t>
            </a:r>
            <a:endParaRPr lang="en-US" sz="650" dirty="0"/>
          </a:p>
          <a:p>
            <a:pPr algn="r" indent="0" marL="0">
              <a:lnSpc>
                <a:spcPct val="105000"/>
              </a:lnSpc>
              <a:buNone/>
            </a:pPr>
            <a:r>
              <a:rPr lang="en-US" sz="650" dirty="0">
                <a:solidFill>
                  <a:srgbClr val="5C6680"/>
                </a:solidFill>
                <a:latin typeface="Calibri" pitchFamily="34" charset="0"/>
                <a:ea typeface="Calibri" pitchFamily="34" charset="-122"/>
                <a:cs typeface="Calibri" pitchFamily="34" charset="-120"/>
              </a:rPr>
              <a:t>Agent Garbage: Auto Pilot (GitHub)</a:t>
            </a:r>
            <a:endParaRPr lang="en-US" sz="650" dirty="0"/>
          </a:p>
        </p:txBody>
      </p:sp>
      <p:sp>
        <p:nvSpPr>
          <p:cNvPr id="6" name="Text 4"/>
          <p:cNvSpPr/>
          <p:nvPr/>
        </p:nvSpPr>
        <p:spPr>
          <a:xfrm>
            <a:off x="457200" y="502920"/>
            <a:ext cx="8229600" cy="502920"/>
          </a:xfrm>
          <a:prstGeom prst="rect">
            <a:avLst/>
          </a:prstGeom>
          <a:noFill/>
          <a:ln/>
        </p:spPr>
        <p:txBody>
          <a:bodyPr wrap="square" lIns="0" tIns="0" rIns="0" bIns="0" rtlCol="0" anchor="ctr"/>
          <a:lstStyle/>
          <a:p>
            <a:pPr algn="ctr" indent="0" marL="0">
              <a:buNone/>
            </a:pPr>
            <a:r>
              <a:rPr lang="en-US" sz="2700" b="1" dirty="0">
                <a:solidFill>
                  <a:srgbClr val="E6EAF2"/>
                </a:solidFill>
                <a:latin typeface="Arial" pitchFamily="34" charset="0"/>
                <a:ea typeface="Arial" pitchFamily="34" charset="-122"/>
                <a:cs typeface="Arial" pitchFamily="34" charset="-120"/>
              </a:rPr>
              <a:t>Ready to See NextFlow in Action?</a:t>
            </a:r>
            <a:endParaRPr lang="en-US" sz="2700" dirty="0"/>
          </a:p>
        </p:txBody>
      </p:sp>
      <p:sp>
        <p:nvSpPr>
          <p:cNvPr id="7" name="Shape 5"/>
          <p:cNvSpPr/>
          <p:nvPr/>
        </p:nvSpPr>
        <p:spPr>
          <a:xfrm>
            <a:off x="457200" y="1188720"/>
            <a:ext cx="2587752" cy="1554480"/>
          </a:xfrm>
          <a:prstGeom prst="roundRect">
            <a:avLst>
              <a:gd name="adj" fmla="val 4706"/>
            </a:avLst>
          </a:prstGeom>
          <a:solidFill>
            <a:srgbClr val="121C30"/>
          </a:solidFill>
          <a:ln/>
          <a:effectLst>
            <a:outerShdw sx="100000" sy="100000" kx="0" ky="0" algn="bl" rotWithShape="0" blurRad="101600" dist="38100" dir="5400000">
              <a:srgbClr val="000000">
                <a:alpha val="35000"/>
              </a:srgbClr>
            </a:outerShdw>
          </a:effectLst>
        </p:spPr>
      </p:sp>
      <p:sp>
        <p:nvSpPr>
          <p:cNvPr id="8" name="Shape 6"/>
          <p:cNvSpPr/>
          <p:nvPr/>
        </p:nvSpPr>
        <p:spPr>
          <a:xfrm>
            <a:off x="1499616" y="1353312"/>
            <a:ext cx="502920" cy="502920"/>
          </a:xfrm>
          <a:prstGeom prst="ellipse">
            <a:avLst/>
          </a:prstGeom>
          <a:solidFill>
            <a:srgbClr val="22D3EE"/>
          </a:solidFill>
          <a:ln/>
        </p:spPr>
      </p:sp>
      <p:pic>
        <p:nvPicPr>
          <p:cNvPr id="9" name="Image 0" descr="preencoded.png">    </p:cNvPr>
          <p:cNvPicPr>
            <a:picLocks noChangeAspect="1"/>
          </p:cNvPicPr>
          <p:nvPr/>
        </p:nvPicPr>
        <p:blipFill>
          <a:blip r:embed="rId1"/>
          <a:stretch>
            <a:fillRect/>
          </a:stretch>
        </p:blipFill>
        <p:spPr>
          <a:xfrm>
            <a:off x="1630375" y="1484071"/>
            <a:ext cx="241402" cy="241402"/>
          </a:xfrm>
          <a:prstGeom prst="rect">
            <a:avLst/>
          </a:prstGeom>
        </p:spPr>
      </p:pic>
      <p:sp>
        <p:nvSpPr>
          <p:cNvPr id="10" name="Text 7"/>
          <p:cNvSpPr/>
          <p:nvPr/>
        </p:nvSpPr>
        <p:spPr>
          <a:xfrm>
            <a:off x="594360" y="1965960"/>
            <a:ext cx="2313432" cy="411480"/>
          </a:xfrm>
          <a:prstGeom prst="rect">
            <a:avLst/>
          </a:prstGeom>
          <a:noFill/>
          <a:ln/>
        </p:spPr>
        <p:txBody>
          <a:bodyPr wrap="square" lIns="0" tIns="0" rIns="0" bIns="0" rtlCol="0" anchor="ctr"/>
          <a:lstStyle/>
          <a:p>
            <a:pPr algn="ctr" indent="0" marL="0">
              <a:buNone/>
            </a:pPr>
            <a:r>
              <a:rPr lang="en-US" sz="1150" b="1" dirty="0">
                <a:solidFill>
                  <a:srgbClr val="E6EAF2"/>
                </a:solidFill>
                <a:latin typeface="Arial" pitchFamily="34" charset="0"/>
                <a:ea typeface="Arial" pitchFamily="34" charset="-122"/>
                <a:cs typeface="Arial" pitchFamily="34" charset="-120"/>
              </a:rPr>
              <a:t>Launch the Interactive Dashboard</a:t>
            </a:r>
            <a:endParaRPr lang="en-US" sz="1150" dirty="0"/>
          </a:p>
        </p:txBody>
      </p:sp>
      <p:sp>
        <p:nvSpPr>
          <p:cNvPr id="11" name="Text 8"/>
          <p:cNvSpPr/>
          <p:nvPr/>
        </p:nvSpPr>
        <p:spPr>
          <a:xfrm>
            <a:off x="621792" y="2359152"/>
            <a:ext cx="2258568" cy="320040"/>
          </a:xfrm>
          <a:prstGeom prst="rect">
            <a:avLst/>
          </a:prstGeom>
          <a:noFill/>
          <a:ln/>
        </p:spPr>
        <p:txBody>
          <a:bodyPr wrap="square" lIns="0" tIns="0" rIns="0" bIns="0" rtlCol="0" anchor="ctr"/>
          <a:lstStyle/>
          <a:p>
            <a:pPr algn="ctr" indent="0" marL="0">
              <a:buNone/>
            </a:pPr>
            <a:r>
              <a:rPr lang="en-US" sz="850" dirty="0">
                <a:solidFill>
                  <a:srgbClr val="8B96AC"/>
                </a:solidFill>
                <a:latin typeface="Calibri" pitchFamily="34" charset="0"/>
                <a:ea typeface="Calibri" pitchFamily="34" charset="-122"/>
                <a:cs typeface="Calibri" pitchFamily="34" charset="-120"/>
              </a:rPr>
              <a:t>Run a live pipeline demo. Attach a project, toggle isolation mode, watch execution in real time.</a:t>
            </a:r>
            <a:endParaRPr lang="en-US" sz="850" dirty="0"/>
          </a:p>
        </p:txBody>
      </p:sp>
      <p:sp>
        <p:nvSpPr>
          <p:cNvPr id="12" name="Shape 9"/>
          <p:cNvSpPr/>
          <p:nvPr/>
        </p:nvSpPr>
        <p:spPr>
          <a:xfrm>
            <a:off x="3227832" y="1188720"/>
            <a:ext cx="2587752" cy="1554480"/>
          </a:xfrm>
          <a:prstGeom prst="roundRect">
            <a:avLst>
              <a:gd name="adj" fmla="val 4706"/>
            </a:avLst>
          </a:prstGeom>
          <a:solidFill>
            <a:srgbClr val="121C30"/>
          </a:solidFill>
          <a:ln/>
          <a:effectLst>
            <a:outerShdw sx="100000" sy="100000" kx="0" ky="0" algn="bl" rotWithShape="0" blurRad="101600" dist="38100" dir="5400000">
              <a:srgbClr val="000000">
                <a:alpha val="35000"/>
              </a:srgbClr>
            </a:outerShdw>
          </a:effectLst>
        </p:spPr>
      </p:sp>
      <p:sp>
        <p:nvSpPr>
          <p:cNvPr id="13" name="Shape 10"/>
          <p:cNvSpPr/>
          <p:nvPr/>
        </p:nvSpPr>
        <p:spPr>
          <a:xfrm>
            <a:off x="4270248" y="1353312"/>
            <a:ext cx="502920" cy="502920"/>
          </a:xfrm>
          <a:prstGeom prst="ellipse">
            <a:avLst/>
          </a:prstGeom>
          <a:solidFill>
            <a:srgbClr val="22D3EE"/>
          </a:solidFill>
          <a:ln/>
        </p:spPr>
      </p:sp>
      <p:pic>
        <p:nvPicPr>
          <p:cNvPr id="14" name="Image 1" descr="preencoded.png">    </p:cNvPr>
          <p:cNvPicPr>
            <a:picLocks noChangeAspect="1"/>
          </p:cNvPicPr>
          <p:nvPr/>
        </p:nvPicPr>
        <p:blipFill>
          <a:blip r:embed="rId2"/>
          <a:stretch>
            <a:fillRect/>
          </a:stretch>
        </p:blipFill>
        <p:spPr>
          <a:xfrm>
            <a:off x="4401007" y="1484071"/>
            <a:ext cx="241402" cy="241402"/>
          </a:xfrm>
          <a:prstGeom prst="rect">
            <a:avLst/>
          </a:prstGeom>
        </p:spPr>
      </p:pic>
      <p:sp>
        <p:nvSpPr>
          <p:cNvPr id="15" name="Text 11"/>
          <p:cNvSpPr/>
          <p:nvPr/>
        </p:nvSpPr>
        <p:spPr>
          <a:xfrm>
            <a:off x="3364992" y="1965960"/>
            <a:ext cx="2313432" cy="411480"/>
          </a:xfrm>
          <a:prstGeom prst="rect">
            <a:avLst/>
          </a:prstGeom>
          <a:noFill/>
          <a:ln/>
        </p:spPr>
        <p:txBody>
          <a:bodyPr wrap="square" lIns="0" tIns="0" rIns="0" bIns="0" rtlCol="0" anchor="ctr"/>
          <a:lstStyle/>
          <a:p>
            <a:pPr algn="ctr" indent="0" marL="0">
              <a:buNone/>
            </a:pPr>
            <a:r>
              <a:rPr lang="en-US" sz="1150" b="1" dirty="0">
                <a:solidFill>
                  <a:srgbClr val="E6EAF2"/>
                </a:solidFill>
                <a:latin typeface="Arial" pitchFamily="34" charset="0"/>
                <a:ea typeface="Arial" pitchFamily="34" charset="-122"/>
                <a:cs typeface="Arial" pitchFamily="34" charset="-120"/>
              </a:rPr>
              <a:t>Explore the Code</a:t>
            </a:r>
            <a:endParaRPr lang="en-US" sz="1150" dirty="0"/>
          </a:p>
        </p:txBody>
      </p:sp>
      <p:sp>
        <p:nvSpPr>
          <p:cNvPr id="16" name="Text 12"/>
          <p:cNvSpPr/>
          <p:nvPr/>
        </p:nvSpPr>
        <p:spPr>
          <a:xfrm>
            <a:off x="3392424" y="2359152"/>
            <a:ext cx="2258568" cy="320040"/>
          </a:xfrm>
          <a:prstGeom prst="rect">
            <a:avLst/>
          </a:prstGeom>
          <a:noFill/>
          <a:ln/>
        </p:spPr>
        <p:txBody>
          <a:bodyPr wrap="square" lIns="0" tIns="0" rIns="0" bIns="0" rtlCol="0" anchor="ctr"/>
          <a:lstStyle/>
          <a:p>
            <a:pPr algn="ctr" indent="0" marL="0">
              <a:buNone/>
            </a:pPr>
            <a:r>
              <a:rPr lang="en-US" sz="850" dirty="0">
                <a:solidFill>
                  <a:srgbClr val="8B96AC"/>
                </a:solidFill>
                <a:latin typeface="Calibri" pitchFamily="34" charset="0"/>
                <a:ea typeface="Calibri" pitchFamily="34" charset="-122"/>
                <a:cs typeface="Calibri" pitchFamily="34" charset="-120"/>
              </a:rPr>
              <a:t>Deterministic, auditable, and open. Review the pipeline logic, scoring formula, state machine.</a:t>
            </a:r>
            <a:endParaRPr lang="en-US" sz="850" dirty="0"/>
          </a:p>
        </p:txBody>
      </p:sp>
      <p:sp>
        <p:nvSpPr>
          <p:cNvPr id="17" name="Shape 13"/>
          <p:cNvSpPr/>
          <p:nvPr/>
        </p:nvSpPr>
        <p:spPr>
          <a:xfrm>
            <a:off x="5998464" y="1188720"/>
            <a:ext cx="2587752" cy="1554480"/>
          </a:xfrm>
          <a:prstGeom prst="roundRect">
            <a:avLst>
              <a:gd name="adj" fmla="val 4706"/>
            </a:avLst>
          </a:prstGeom>
          <a:solidFill>
            <a:srgbClr val="121C30"/>
          </a:solidFill>
          <a:ln/>
          <a:effectLst>
            <a:outerShdw sx="100000" sy="100000" kx="0" ky="0" algn="bl" rotWithShape="0" blurRad="101600" dist="38100" dir="5400000">
              <a:srgbClr val="000000">
                <a:alpha val="35000"/>
              </a:srgbClr>
            </a:outerShdw>
          </a:effectLst>
        </p:spPr>
      </p:sp>
      <p:sp>
        <p:nvSpPr>
          <p:cNvPr id="18" name="Shape 14"/>
          <p:cNvSpPr/>
          <p:nvPr/>
        </p:nvSpPr>
        <p:spPr>
          <a:xfrm>
            <a:off x="7040880" y="1353312"/>
            <a:ext cx="502920" cy="502920"/>
          </a:xfrm>
          <a:prstGeom prst="ellipse">
            <a:avLst/>
          </a:prstGeom>
          <a:solidFill>
            <a:srgbClr val="22D3EE"/>
          </a:solidFill>
          <a:ln/>
        </p:spPr>
      </p:sp>
      <p:pic>
        <p:nvPicPr>
          <p:cNvPr id="19" name="Image 2" descr="preencoded.png">    </p:cNvPr>
          <p:cNvPicPr>
            <a:picLocks noChangeAspect="1"/>
          </p:cNvPicPr>
          <p:nvPr/>
        </p:nvPicPr>
        <p:blipFill>
          <a:blip r:embed="rId3"/>
          <a:stretch>
            <a:fillRect/>
          </a:stretch>
        </p:blipFill>
        <p:spPr>
          <a:xfrm>
            <a:off x="7171639" y="1484071"/>
            <a:ext cx="241402" cy="241402"/>
          </a:xfrm>
          <a:prstGeom prst="rect">
            <a:avLst/>
          </a:prstGeom>
        </p:spPr>
      </p:pic>
      <p:sp>
        <p:nvSpPr>
          <p:cNvPr id="20" name="Text 15"/>
          <p:cNvSpPr/>
          <p:nvPr/>
        </p:nvSpPr>
        <p:spPr>
          <a:xfrm>
            <a:off x="6135624" y="1965960"/>
            <a:ext cx="2313432" cy="411480"/>
          </a:xfrm>
          <a:prstGeom prst="rect">
            <a:avLst/>
          </a:prstGeom>
          <a:noFill/>
          <a:ln/>
        </p:spPr>
        <p:txBody>
          <a:bodyPr wrap="square" lIns="0" tIns="0" rIns="0" bIns="0" rtlCol="0" anchor="ctr"/>
          <a:lstStyle/>
          <a:p>
            <a:pPr algn="ctr" indent="0" marL="0">
              <a:buNone/>
            </a:pPr>
            <a:r>
              <a:rPr lang="en-US" sz="1150" b="1" dirty="0">
                <a:solidFill>
                  <a:srgbClr val="E6EAF2"/>
                </a:solidFill>
                <a:latin typeface="Arial" pitchFamily="34" charset="0"/>
                <a:ea typeface="Arial" pitchFamily="34" charset="-122"/>
                <a:cs typeface="Arial" pitchFamily="34" charset="-120"/>
              </a:rPr>
              <a:t>Join the Community</a:t>
            </a:r>
            <a:endParaRPr lang="en-US" sz="1150" dirty="0"/>
          </a:p>
        </p:txBody>
      </p:sp>
      <p:sp>
        <p:nvSpPr>
          <p:cNvPr id="21" name="Text 16"/>
          <p:cNvSpPr/>
          <p:nvPr/>
        </p:nvSpPr>
        <p:spPr>
          <a:xfrm>
            <a:off x="6163056" y="2359152"/>
            <a:ext cx="2258568" cy="320040"/>
          </a:xfrm>
          <a:prstGeom prst="rect">
            <a:avLst/>
          </a:prstGeom>
          <a:noFill/>
          <a:ln/>
        </p:spPr>
        <p:txBody>
          <a:bodyPr wrap="square" lIns="0" tIns="0" rIns="0" bIns="0" rtlCol="0" anchor="ctr"/>
          <a:lstStyle/>
          <a:p>
            <a:pPr algn="ctr" indent="0" marL="0">
              <a:buNone/>
            </a:pPr>
            <a:r>
              <a:rPr lang="en-US" sz="850" dirty="0">
                <a:solidFill>
                  <a:srgbClr val="8B96AC"/>
                </a:solidFill>
                <a:latin typeface="Calibri" pitchFamily="34" charset="0"/>
                <a:ea typeface="Calibri" pitchFamily="34" charset="-122"/>
                <a:cs typeface="Calibri" pitchFamily="34" charset="-120"/>
              </a:rPr>
              <a:t>Connect with other teams using deterministic processing. Share workflows, learn best practices.</a:t>
            </a:r>
            <a:endParaRPr lang="en-US" sz="850" dirty="0"/>
          </a:p>
        </p:txBody>
      </p:sp>
      <p:sp>
        <p:nvSpPr>
          <p:cNvPr id="22" name="Text 17"/>
          <p:cNvSpPr/>
          <p:nvPr/>
        </p:nvSpPr>
        <p:spPr>
          <a:xfrm>
            <a:off x="0" y="2907792"/>
            <a:ext cx="9144000" cy="502920"/>
          </a:xfrm>
          <a:prstGeom prst="rect">
            <a:avLst/>
          </a:prstGeom>
          <a:noFill/>
          <a:ln/>
        </p:spPr>
        <p:txBody>
          <a:bodyPr wrap="square" lIns="0" tIns="0" rIns="0" bIns="0" rtlCol="0" anchor="ctr"/>
          <a:lstStyle/>
          <a:p>
            <a:pPr algn="ctr" indent="0" marL="0">
              <a:buNone/>
            </a:pPr>
            <a:r>
              <a:rPr lang="en-US" sz="2400" b="1" i="1" dirty="0">
                <a:solidFill>
                  <a:srgbClr val="22D3EE"/>
                </a:solidFill>
                <a:latin typeface="Arial" pitchFamily="34" charset="0"/>
                <a:ea typeface="Arial" pitchFamily="34" charset="-122"/>
                <a:cs typeface="Arial" pitchFamily="34" charset="-120"/>
              </a:rPr>
              <a:t>“Every output is earned.”</a:t>
            </a:r>
            <a:endParaRPr lang="en-US" sz="2400" dirty="0"/>
          </a:p>
        </p:txBody>
      </p:sp>
      <p:sp>
        <p:nvSpPr>
          <p:cNvPr id="23" name="Shape 18"/>
          <p:cNvSpPr/>
          <p:nvPr/>
        </p:nvSpPr>
        <p:spPr>
          <a:xfrm>
            <a:off x="548640" y="3520440"/>
            <a:ext cx="8046720" cy="1325880"/>
          </a:xfrm>
          <a:prstGeom prst="roundRect">
            <a:avLst>
              <a:gd name="adj" fmla="val 5517"/>
            </a:avLst>
          </a:prstGeom>
          <a:solidFill>
            <a:srgbClr val="16223A"/>
          </a:solidFill>
          <a:ln/>
          <a:effectLst>
            <a:outerShdw sx="100000" sy="100000" kx="0" ky="0" algn="bl" rotWithShape="0" blurRad="101600" dist="38100" dir="5400000">
              <a:srgbClr val="000000">
                <a:alpha val="35000"/>
              </a:srgbClr>
            </a:outerShdw>
          </a:effectLst>
        </p:spPr>
      </p:sp>
      <p:sp>
        <p:nvSpPr>
          <p:cNvPr id="24" name="Text 19"/>
          <p:cNvSpPr/>
          <p:nvPr/>
        </p:nvSpPr>
        <p:spPr>
          <a:xfrm>
            <a:off x="777240" y="3611880"/>
            <a:ext cx="7589520" cy="1188720"/>
          </a:xfrm>
          <a:prstGeom prst="rect">
            <a:avLst/>
          </a:prstGeom>
          <a:noFill/>
          <a:ln/>
        </p:spPr>
        <p:txBody>
          <a:bodyPr wrap="square" lIns="0" tIns="0" rIns="0" bIns="0" rtlCol="0" anchor="ctr"/>
          <a:lstStyle/>
          <a:p>
            <a:pPr algn="ctr" indent="0" marL="0">
              <a:lnSpc>
                <a:spcPct val="125000"/>
              </a:lnSpc>
              <a:buNone/>
            </a:pPr>
            <a:r>
              <a:rPr lang="en-US" sz="950" b="1" dirty="0">
                <a:solidFill>
                  <a:srgbClr val="E6EAF2"/>
                </a:solidFill>
                <a:latin typeface="Calibri" pitchFamily="34" charset="0"/>
                <a:ea typeface="Calibri" pitchFamily="34" charset="-122"/>
                <a:cs typeface="Calibri" pitchFamily="34" charset="-120"/>
              </a:rPr>
              <a:t>The OneShot Team   ·   Author: Minh Le   ·   Contact: [add email / LinkedIn]</a:t>
            </a:r>
            <a:endParaRPr lang="en-US" sz="950" dirty="0"/>
          </a:p>
          <a:p>
            <a:pPr algn="ctr" indent="0" marL="0">
              <a:lnSpc>
                <a:spcPct val="125000"/>
              </a:lnSpc>
              <a:buNone/>
            </a:pPr>
            <a:r>
              <a:rPr lang="en-US" sz="950" dirty="0">
                <a:solidFill>
                  <a:srgbClr val="8B96AC"/>
                </a:solidFill>
                <a:latin typeface="Calibri" pitchFamily="34" charset="0"/>
                <a:ea typeface="Calibri" pitchFamily="34" charset="-122"/>
                <a:cs typeface="Calibri" pitchFamily="34" charset="-120"/>
              </a:rPr>
              <a:t>Built for UiPath AgentHack — Track 2: Maestro Orchestrator</a:t>
            </a:r>
            <a:endParaRPr lang="en-US" sz="950" dirty="0"/>
          </a:p>
          <a:p>
            <a:pPr algn="ctr" indent="0" marL="0">
              <a:lnSpc>
                <a:spcPct val="125000"/>
              </a:lnSpc>
              <a:buNone/>
            </a:pPr>
            <a:r>
              <a:rPr lang="en-US" sz="950" dirty="0">
                <a:solidFill>
                  <a:srgbClr val="8B96AC"/>
                </a:solidFill>
                <a:latin typeface="Calibri" pitchFamily="34" charset="0"/>
                <a:ea typeface="Calibri" pitchFamily="34" charset="-122"/>
                <a:cs typeface="Calibri" pitchFamily="34" charset="-120"/>
              </a:rPr>
              <a:t>Agent Builders: Kiro, Codex   ·   Agent Helpers: Qwen, ChatGPT, Claude, Mistral   ·   Agent Garbage: Auto Pilot (GitHub)</a:t>
            </a:r>
            <a:endParaRPr lang="en-US" sz="950" dirty="0"/>
          </a:p>
          <a:p>
            <a:pPr algn="ctr" indent="0" marL="0">
              <a:lnSpc>
                <a:spcPct val="125000"/>
              </a:lnSpc>
              <a:buNone/>
            </a:pPr>
            <a:r>
              <a:rPr lang="en-US" sz="950" dirty="0">
                <a:solidFill>
                  <a:srgbClr val="5C6680"/>
                </a:solidFill>
                <a:latin typeface="Calibri" pitchFamily="34" charset="0"/>
                <a:ea typeface="Calibri" pitchFamily="34" charset="-122"/>
                <a:cs typeface="Calibri" pitchFamily="34" charset="-120"/>
              </a:rPr>
              <a:t>Licensed under Apache License 2.0   ·   © 2026 The OneShot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NextFlow — Deterministic Pipeline Processing</dc:title>
  <dc:subject>PptxGenJS Presentation</dc:subject>
  <dc:creator>Minh Le</dc:creator>
  <cp:lastModifiedBy>Minh Le</cp:lastModifiedBy>
  <cp:revision>1</cp:revision>
  <dcterms:created xsi:type="dcterms:W3CDTF">2026-06-29T10:34:57Z</dcterms:created>
  <dcterms:modified xsi:type="dcterms:W3CDTF">2026-06-29T10:34:57Z</dcterms:modified>
</cp:coreProperties>
</file>